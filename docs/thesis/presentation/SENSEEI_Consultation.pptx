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8631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3E2DE"/>
        </a:solidFill>
        <a:effectLst/>
      </p:bgPr>
    </p:bg>
    <p:spTree>
      <p:nvGrpSpPr>
        <p:cNvPr id="1" name=""/>
        <p:cNvGrpSpPr/>
        <p:nvPr/>
      </p:nvGrpSpPr>
      <p:grpSpPr>
        <a:xfrm>
          <a:off x="0" y="0"/>
          <a:ext cx="0" cy="0"/>
          <a:chOff x="0" y="0"/>
          <a:chExt cx="0" cy="0"/>
        </a:xfrm>
      </p:grpSpPr>
      <p:sp>
        <p:nvSpPr>
          <p:cNvPr id="2" name="Text 0"/>
          <p:cNvSpPr/>
          <p:nvPr/>
        </p:nvSpPr>
        <p:spPr>
          <a:xfrm>
            <a:off x="457200" y="256032"/>
            <a:ext cx="6400800" cy="274320"/>
          </a:xfrm>
          <a:prstGeom prst="rect">
            <a:avLst/>
          </a:prstGeom>
          <a:noFill/>
          <a:ln/>
        </p:spPr>
        <p:txBody>
          <a:bodyPr wrap="square" lIns="0" tIns="0" rIns="0" bIns="0" rtlCol="0" anchor="ctr"/>
          <a:lstStyle/>
          <a:p>
            <a:pPr marL="0" indent="0">
              <a:buNone/>
            </a:pPr>
            <a:r>
              <a:rPr lang="en-US" sz="1100" b="1" kern="0" spc="200" dirty="0">
                <a:solidFill>
                  <a:srgbClr val="2E5E3B"/>
                </a:solidFill>
                <a:latin typeface="Calibri" pitchFamily="34" charset="0"/>
                <a:ea typeface="Calibri" pitchFamily="34" charset="-122"/>
                <a:cs typeface="Calibri" pitchFamily="34" charset="-120"/>
              </a:rPr>
              <a:t>METHODOLOGY</a:t>
            </a:r>
            <a:endParaRPr lang="en-US" sz="1100" dirty="0"/>
          </a:p>
        </p:txBody>
      </p:sp>
      <p:sp>
        <p:nvSpPr>
          <p:cNvPr id="3" name="Text 1"/>
          <p:cNvSpPr/>
          <p:nvPr/>
        </p:nvSpPr>
        <p:spPr>
          <a:xfrm>
            <a:off x="457200" y="502920"/>
            <a:ext cx="8229600" cy="548640"/>
          </a:xfrm>
          <a:prstGeom prst="rect">
            <a:avLst/>
          </a:prstGeom>
          <a:noFill/>
          <a:ln/>
        </p:spPr>
        <p:txBody>
          <a:bodyPr wrap="square" lIns="0" tIns="0" rIns="0" bIns="0" rtlCol="0" anchor="ctr"/>
          <a:lstStyle/>
          <a:p>
            <a:pPr marL="0" indent="0">
              <a:buNone/>
            </a:pPr>
            <a:r>
              <a:rPr lang="en-US" sz="2600" b="1" dirty="0">
                <a:solidFill>
                  <a:srgbClr val="1E4028"/>
                </a:solidFill>
                <a:latin typeface="Cambria" pitchFamily="34" charset="0"/>
                <a:ea typeface="Cambria" pitchFamily="34" charset="-122"/>
                <a:cs typeface="Cambria" pitchFamily="34" charset="-120"/>
              </a:rPr>
              <a:t>Methodology Overview</a:t>
            </a:r>
            <a:endParaRPr lang="en-US" sz="2600" dirty="0"/>
          </a:p>
        </p:txBody>
      </p:sp>
      <p:sp>
        <p:nvSpPr>
          <p:cNvPr id="4" name="Text 2"/>
          <p:cNvSpPr/>
          <p:nvPr/>
        </p:nvSpPr>
        <p:spPr>
          <a:xfrm>
            <a:off x="8732520" y="4846320"/>
            <a:ext cx="365760" cy="256032"/>
          </a:xfrm>
          <a:prstGeom prst="rect">
            <a:avLst/>
          </a:prstGeom>
          <a:noFill/>
          <a:ln/>
        </p:spPr>
        <p:txBody>
          <a:bodyPr wrap="square" lIns="0" tIns="0" rIns="0" bIns="0" rtlCol="0" anchor="ctr"/>
          <a:lstStyle/>
          <a:p>
            <a:pPr marL="0" indent="0" algn="r">
              <a:buNone/>
            </a:pPr>
            <a:r>
              <a:rPr lang="en-US" sz="1000" dirty="0">
                <a:solidFill>
                  <a:srgbClr val="5B6B60"/>
                </a:solidFill>
                <a:latin typeface="Calibri" pitchFamily="34" charset="0"/>
                <a:ea typeface="Calibri" pitchFamily="34" charset="-122"/>
                <a:cs typeface="Calibri" pitchFamily="34" charset="-120"/>
              </a:rPr>
              <a:t>1</a:t>
            </a:r>
            <a:endParaRPr lang="en-US" sz="1000" dirty="0"/>
          </a:p>
        </p:txBody>
      </p:sp>
      <p:sp>
        <p:nvSpPr>
          <p:cNvPr id="5" name="Shape 3"/>
          <p:cNvSpPr/>
          <p:nvPr/>
        </p:nvSpPr>
        <p:spPr>
          <a:xfrm>
            <a:off x="457200" y="1600200"/>
            <a:ext cx="1426464" cy="1737360"/>
          </a:xfrm>
          <a:prstGeom prst="roundRect">
            <a:avLst>
              <a:gd name="adj" fmla="val 3846"/>
            </a:avLst>
          </a:prstGeom>
          <a:solidFill>
            <a:srgbClr val="2E5E3B"/>
          </a:solidFill>
          <a:ln w="12700">
            <a:solidFill>
              <a:srgbClr val="FFFFFF"/>
            </a:solidFill>
            <a:prstDash val="solid"/>
          </a:ln>
          <a:effectLst>
            <a:outerShdw blurRad="76200" dist="25400" dir="2700000" algn="bl" rotWithShape="0">
              <a:srgbClr val="000000">
                <a:alpha val="12000"/>
              </a:srgbClr>
            </a:outerShdw>
          </a:effectLst>
        </p:spPr>
        <p:txBody>
          <a:bodyPr/>
          <a:lstStyle/>
          <a:p>
            <a:endParaRPr lang="en-US"/>
          </a:p>
        </p:txBody>
      </p:sp>
      <p:sp>
        <p:nvSpPr>
          <p:cNvPr id="6" name="Text 4"/>
          <p:cNvSpPr/>
          <p:nvPr/>
        </p:nvSpPr>
        <p:spPr>
          <a:xfrm>
            <a:off x="548640" y="1709928"/>
            <a:ext cx="1243584" cy="365760"/>
          </a:xfrm>
          <a:prstGeom prst="rect">
            <a:avLst/>
          </a:prstGeom>
          <a:noFill/>
          <a:ln/>
        </p:spPr>
        <p:txBody>
          <a:bodyPr wrap="square" lIns="0" tIns="0" rIns="0" bIns="0" rtlCol="0" anchor="ctr"/>
          <a:lstStyle/>
          <a:p>
            <a:pPr marL="0" indent="0">
              <a:buNone/>
            </a:pPr>
            <a:r>
              <a:rPr lang="en-US" sz="1500" b="1" dirty="0">
                <a:solidFill>
                  <a:srgbClr val="FFD700"/>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548640" y="2103120"/>
            <a:ext cx="1243584" cy="1097280"/>
          </a:xfrm>
          <a:prstGeom prst="rect">
            <a:avLst/>
          </a:prstGeom>
          <a:noFill/>
          <a:ln/>
        </p:spPr>
        <p:txBody>
          <a:bodyPr wrap="square" lIns="0" tIns="0" rIns="0" bIns="0" rtlCol="0" anchor="t"/>
          <a:lstStyle/>
          <a:p>
            <a:pPr marL="0" indent="0">
              <a:buNone/>
            </a:pPr>
            <a:r>
              <a:rPr lang="en-US" sz="1150" dirty="0">
                <a:solidFill>
                  <a:srgbClr val="FFFFFF"/>
                </a:solidFill>
                <a:latin typeface="Calibri" pitchFamily="34" charset="0"/>
                <a:ea typeface="Calibri" pitchFamily="34" charset="-122"/>
                <a:cs typeface="Calibri" pitchFamily="34" charset="-120"/>
              </a:rPr>
              <a:t>Design SEE-I</a:t>
            </a:r>
            <a:endParaRPr lang="en-US" sz="1150" dirty="0"/>
          </a:p>
          <a:p>
            <a:pPr marL="0" indent="0">
              <a:buNone/>
            </a:pPr>
            <a:r>
              <a:rPr lang="en-US" sz="1150" dirty="0">
                <a:solidFill>
                  <a:srgbClr val="FFFFFF"/>
                </a:solidFill>
                <a:latin typeface="Calibri" pitchFamily="34" charset="0"/>
                <a:ea typeface="Calibri" pitchFamily="34" charset="-122"/>
                <a:cs typeface="Calibri" pitchFamily="34" charset="-120"/>
              </a:rPr>
              <a:t>Interaction Flow</a:t>
            </a:r>
            <a:endParaRPr lang="en-US" sz="1150" dirty="0"/>
          </a:p>
        </p:txBody>
      </p:sp>
      <p:sp>
        <p:nvSpPr>
          <p:cNvPr id="8" name="Shape 6"/>
          <p:cNvSpPr/>
          <p:nvPr/>
        </p:nvSpPr>
        <p:spPr>
          <a:xfrm>
            <a:off x="1901952" y="2386584"/>
            <a:ext cx="237744" cy="164592"/>
          </a:xfrm>
          <a:prstGeom prst="rightArrow">
            <a:avLst/>
          </a:prstGeom>
          <a:solidFill>
            <a:srgbClr val="1E4028"/>
          </a:solidFill>
          <a:ln w="12700">
            <a:solidFill>
              <a:srgbClr val="1E4028"/>
            </a:solidFill>
            <a:prstDash val="solid"/>
          </a:ln>
        </p:spPr>
        <p:txBody>
          <a:bodyPr/>
          <a:lstStyle/>
          <a:p>
            <a:endParaRPr lang="en-US"/>
          </a:p>
        </p:txBody>
      </p:sp>
      <p:sp>
        <p:nvSpPr>
          <p:cNvPr id="9" name="Shape 7"/>
          <p:cNvSpPr/>
          <p:nvPr/>
        </p:nvSpPr>
        <p:spPr>
          <a:xfrm>
            <a:off x="2157984" y="1600200"/>
            <a:ext cx="1426464" cy="1737360"/>
          </a:xfrm>
          <a:prstGeom prst="roundRect">
            <a:avLst>
              <a:gd name="adj" fmla="val 3846"/>
            </a:avLst>
          </a:prstGeom>
          <a:solidFill>
            <a:srgbClr val="FFFFFF"/>
          </a:solidFill>
          <a:ln w="12700">
            <a:solidFill>
              <a:srgbClr val="FFFFFF"/>
            </a:solidFill>
            <a:prstDash val="solid"/>
          </a:ln>
          <a:effectLst>
            <a:outerShdw blurRad="76200" dist="25400" dir="2700000" algn="bl" rotWithShape="0">
              <a:srgbClr val="000000">
                <a:alpha val="12000"/>
              </a:srgbClr>
            </a:outerShdw>
          </a:effectLst>
        </p:spPr>
        <p:txBody>
          <a:bodyPr/>
          <a:lstStyle/>
          <a:p>
            <a:endParaRPr lang="en-US"/>
          </a:p>
        </p:txBody>
      </p:sp>
      <p:sp>
        <p:nvSpPr>
          <p:cNvPr id="10" name="Text 8"/>
          <p:cNvSpPr/>
          <p:nvPr/>
        </p:nvSpPr>
        <p:spPr>
          <a:xfrm>
            <a:off x="2249424" y="1709928"/>
            <a:ext cx="1243584" cy="365760"/>
          </a:xfrm>
          <a:prstGeom prst="rect">
            <a:avLst/>
          </a:prstGeom>
          <a:noFill/>
          <a:ln/>
        </p:spPr>
        <p:txBody>
          <a:bodyPr wrap="square" lIns="0" tIns="0" rIns="0" bIns="0" rtlCol="0" anchor="ctr"/>
          <a:lstStyle/>
          <a:p>
            <a:pPr marL="0" indent="0">
              <a:buNone/>
            </a:pPr>
            <a:r>
              <a:rPr lang="en-US" sz="1500" b="1" dirty="0">
                <a:solidFill>
                  <a:srgbClr val="2E5E3B"/>
                </a:solidFill>
                <a:latin typeface="Cambria" pitchFamily="34" charset="0"/>
                <a:ea typeface="Cambria" pitchFamily="34" charset="-122"/>
                <a:cs typeface="Cambria" pitchFamily="34" charset="-120"/>
              </a:rPr>
              <a:t>2</a:t>
            </a:r>
            <a:endParaRPr lang="en-US" sz="1500" dirty="0"/>
          </a:p>
        </p:txBody>
      </p:sp>
      <p:sp>
        <p:nvSpPr>
          <p:cNvPr id="11" name="Text 9"/>
          <p:cNvSpPr/>
          <p:nvPr/>
        </p:nvSpPr>
        <p:spPr>
          <a:xfrm>
            <a:off x="2249424" y="2103120"/>
            <a:ext cx="1243584" cy="1097280"/>
          </a:xfrm>
          <a:prstGeom prst="rect">
            <a:avLst/>
          </a:prstGeom>
          <a:noFill/>
          <a:ln/>
        </p:spPr>
        <p:txBody>
          <a:bodyPr wrap="square" lIns="0" tIns="0" rIns="0" bIns="0" rtlCol="0" anchor="t"/>
          <a:lstStyle/>
          <a:p>
            <a:pPr marL="0" indent="0">
              <a:buNone/>
            </a:pPr>
            <a:r>
              <a:rPr lang="en-US" sz="1150" dirty="0">
                <a:solidFill>
                  <a:srgbClr val="1A1A1A"/>
                </a:solidFill>
                <a:latin typeface="Calibri" pitchFamily="34" charset="0"/>
                <a:ea typeface="Calibri" pitchFamily="34" charset="-122"/>
                <a:cs typeface="Calibri" pitchFamily="34" charset="-120"/>
              </a:rPr>
              <a:t>Design Multi-Agent</a:t>
            </a:r>
            <a:endParaRPr lang="en-US" sz="1150" dirty="0"/>
          </a:p>
          <a:p>
            <a:pPr marL="0" indent="0">
              <a:buNone/>
            </a:pPr>
            <a:r>
              <a:rPr lang="en-US" sz="1150" dirty="0">
                <a:solidFill>
                  <a:srgbClr val="1A1A1A"/>
                </a:solidFill>
                <a:latin typeface="Calibri" pitchFamily="34" charset="0"/>
                <a:ea typeface="Calibri" pitchFamily="34" charset="-122"/>
                <a:cs typeface="Calibri" pitchFamily="34" charset="-120"/>
              </a:rPr>
              <a:t>Architecture</a:t>
            </a:r>
            <a:endParaRPr lang="en-US" sz="1150" dirty="0"/>
          </a:p>
        </p:txBody>
      </p:sp>
      <p:sp>
        <p:nvSpPr>
          <p:cNvPr id="12" name="Shape 10"/>
          <p:cNvSpPr/>
          <p:nvPr/>
        </p:nvSpPr>
        <p:spPr>
          <a:xfrm>
            <a:off x="3602736" y="2386584"/>
            <a:ext cx="237744" cy="164592"/>
          </a:xfrm>
          <a:prstGeom prst="rightArrow">
            <a:avLst/>
          </a:prstGeom>
          <a:solidFill>
            <a:srgbClr val="1E4028"/>
          </a:solidFill>
          <a:ln w="12700">
            <a:solidFill>
              <a:srgbClr val="1E4028"/>
            </a:solidFill>
            <a:prstDash val="solid"/>
          </a:ln>
        </p:spPr>
        <p:txBody>
          <a:bodyPr/>
          <a:lstStyle/>
          <a:p>
            <a:endParaRPr lang="en-US"/>
          </a:p>
        </p:txBody>
      </p:sp>
      <p:sp>
        <p:nvSpPr>
          <p:cNvPr id="13" name="Shape 11"/>
          <p:cNvSpPr/>
          <p:nvPr/>
        </p:nvSpPr>
        <p:spPr>
          <a:xfrm>
            <a:off x="3858768" y="1600200"/>
            <a:ext cx="1426464" cy="1737360"/>
          </a:xfrm>
          <a:prstGeom prst="roundRect">
            <a:avLst>
              <a:gd name="adj" fmla="val 3846"/>
            </a:avLst>
          </a:prstGeom>
          <a:solidFill>
            <a:srgbClr val="2E5E3B"/>
          </a:solidFill>
          <a:ln w="12700">
            <a:solidFill>
              <a:srgbClr val="FFFFFF"/>
            </a:solidFill>
            <a:prstDash val="solid"/>
          </a:ln>
          <a:effectLst>
            <a:outerShdw blurRad="76200" dist="25400" dir="2700000" algn="bl" rotWithShape="0">
              <a:srgbClr val="000000">
                <a:alpha val="12000"/>
              </a:srgbClr>
            </a:outerShdw>
          </a:effectLst>
        </p:spPr>
        <p:txBody>
          <a:bodyPr/>
          <a:lstStyle/>
          <a:p>
            <a:endParaRPr lang="en-US"/>
          </a:p>
        </p:txBody>
      </p:sp>
      <p:sp>
        <p:nvSpPr>
          <p:cNvPr id="14" name="Text 12"/>
          <p:cNvSpPr/>
          <p:nvPr/>
        </p:nvSpPr>
        <p:spPr>
          <a:xfrm>
            <a:off x="3950208" y="1709928"/>
            <a:ext cx="1243584" cy="365760"/>
          </a:xfrm>
          <a:prstGeom prst="rect">
            <a:avLst/>
          </a:prstGeom>
          <a:noFill/>
          <a:ln/>
        </p:spPr>
        <p:txBody>
          <a:bodyPr wrap="square" lIns="0" tIns="0" rIns="0" bIns="0" rtlCol="0" anchor="ctr"/>
          <a:lstStyle/>
          <a:p>
            <a:pPr marL="0" indent="0">
              <a:buNone/>
            </a:pPr>
            <a:r>
              <a:rPr lang="en-US" sz="1500" b="1" dirty="0">
                <a:solidFill>
                  <a:srgbClr val="FFD700"/>
                </a:solidFill>
                <a:latin typeface="Cambria" pitchFamily="34" charset="0"/>
                <a:ea typeface="Cambria" pitchFamily="34" charset="-122"/>
                <a:cs typeface="Cambria" pitchFamily="34" charset="-120"/>
              </a:rPr>
              <a:t>3</a:t>
            </a:r>
            <a:endParaRPr lang="en-US" sz="1500" dirty="0"/>
          </a:p>
        </p:txBody>
      </p:sp>
      <p:sp>
        <p:nvSpPr>
          <p:cNvPr id="15" name="Text 13"/>
          <p:cNvSpPr/>
          <p:nvPr/>
        </p:nvSpPr>
        <p:spPr>
          <a:xfrm>
            <a:off x="3950208" y="2103120"/>
            <a:ext cx="1243584" cy="1097280"/>
          </a:xfrm>
          <a:prstGeom prst="rect">
            <a:avLst/>
          </a:prstGeom>
          <a:noFill/>
          <a:ln/>
        </p:spPr>
        <p:txBody>
          <a:bodyPr wrap="square" lIns="0" tIns="0" rIns="0" bIns="0" rtlCol="0" anchor="t"/>
          <a:lstStyle/>
          <a:p>
            <a:pPr marL="0" indent="0">
              <a:buNone/>
            </a:pPr>
            <a:r>
              <a:rPr lang="en-US" sz="1150" dirty="0">
                <a:solidFill>
                  <a:srgbClr val="FFFFFF"/>
                </a:solidFill>
                <a:latin typeface="Calibri" pitchFamily="34" charset="0"/>
                <a:ea typeface="Calibri" pitchFamily="34" charset="-122"/>
                <a:cs typeface="Calibri" pitchFamily="34" charset="-120"/>
              </a:rPr>
              <a:t>Develop &amp; Evaluate</a:t>
            </a:r>
            <a:endParaRPr lang="en-US" sz="1150" dirty="0"/>
          </a:p>
          <a:p>
            <a:pPr marL="0" indent="0">
              <a:buNone/>
            </a:pPr>
            <a:r>
              <a:rPr lang="en-US" sz="1150" dirty="0">
                <a:solidFill>
                  <a:srgbClr val="FFFFFF"/>
                </a:solidFill>
                <a:latin typeface="Calibri" pitchFamily="34" charset="0"/>
                <a:ea typeface="Calibri" pitchFamily="34" charset="-122"/>
                <a:cs typeface="Calibri" pitchFamily="34" charset="-120"/>
              </a:rPr>
              <a:t>Agents Individually</a:t>
            </a:r>
            <a:endParaRPr lang="en-US" sz="1150" dirty="0"/>
          </a:p>
        </p:txBody>
      </p:sp>
      <p:sp>
        <p:nvSpPr>
          <p:cNvPr id="16" name="Shape 14"/>
          <p:cNvSpPr/>
          <p:nvPr/>
        </p:nvSpPr>
        <p:spPr>
          <a:xfrm>
            <a:off x="5303520" y="2386584"/>
            <a:ext cx="237744" cy="164592"/>
          </a:xfrm>
          <a:prstGeom prst="rightArrow">
            <a:avLst/>
          </a:prstGeom>
          <a:solidFill>
            <a:srgbClr val="1E4028"/>
          </a:solidFill>
          <a:ln w="12700">
            <a:solidFill>
              <a:srgbClr val="1E4028"/>
            </a:solidFill>
            <a:prstDash val="solid"/>
          </a:ln>
        </p:spPr>
        <p:txBody>
          <a:bodyPr/>
          <a:lstStyle/>
          <a:p>
            <a:endParaRPr lang="en-US"/>
          </a:p>
        </p:txBody>
      </p:sp>
      <p:sp>
        <p:nvSpPr>
          <p:cNvPr id="17" name="Shape 15"/>
          <p:cNvSpPr/>
          <p:nvPr/>
        </p:nvSpPr>
        <p:spPr>
          <a:xfrm>
            <a:off x="5559552" y="1600200"/>
            <a:ext cx="1426464" cy="1737360"/>
          </a:xfrm>
          <a:prstGeom prst="roundRect">
            <a:avLst>
              <a:gd name="adj" fmla="val 3846"/>
            </a:avLst>
          </a:prstGeom>
          <a:solidFill>
            <a:srgbClr val="FFFFFF"/>
          </a:solidFill>
          <a:ln w="12700">
            <a:solidFill>
              <a:srgbClr val="FFFFFF"/>
            </a:solidFill>
            <a:prstDash val="solid"/>
          </a:ln>
          <a:effectLst>
            <a:outerShdw blurRad="76200" dist="25400" dir="2700000" algn="bl" rotWithShape="0">
              <a:srgbClr val="000000">
                <a:alpha val="12000"/>
              </a:srgbClr>
            </a:outerShdw>
          </a:effectLst>
        </p:spPr>
        <p:txBody>
          <a:bodyPr/>
          <a:lstStyle/>
          <a:p>
            <a:endParaRPr lang="en-US"/>
          </a:p>
        </p:txBody>
      </p:sp>
      <p:sp>
        <p:nvSpPr>
          <p:cNvPr id="18" name="Text 16"/>
          <p:cNvSpPr/>
          <p:nvPr/>
        </p:nvSpPr>
        <p:spPr>
          <a:xfrm>
            <a:off x="5650992" y="1709928"/>
            <a:ext cx="1243584" cy="365760"/>
          </a:xfrm>
          <a:prstGeom prst="rect">
            <a:avLst/>
          </a:prstGeom>
          <a:noFill/>
          <a:ln/>
        </p:spPr>
        <p:txBody>
          <a:bodyPr wrap="square" lIns="0" tIns="0" rIns="0" bIns="0" rtlCol="0" anchor="ctr"/>
          <a:lstStyle/>
          <a:p>
            <a:pPr marL="0" indent="0">
              <a:buNone/>
            </a:pPr>
            <a:r>
              <a:rPr lang="en-US" sz="1500" b="1" dirty="0">
                <a:solidFill>
                  <a:srgbClr val="2E5E3B"/>
                </a:solidFill>
                <a:latin typeface="Cambria" pitchFamily="34" charset="0"/>
                <a:ea typeface="Cambria" pitchFamily="34" charset="-122"/>
                <a:cs typeface="Cambria" pitchFamily="34" charset="-120"/>
              </a:rPr>
              <a:t>4</a:t>
            </a:r>
            <a:endParaRPr lang="en-US" sz="1500" dirty="0"/>
          </a:p>
        </p:txBody>
      </p:sp>
      <p:sp>
        <p:nvSpPr>
          <p:cNvPr id="19" name="Text 17"/>
          <p:cNvSpPr/>
          <p:nvPr/>
        </p:nvSpPr>
        <p:spPr>
          <a:xfrm>
            <a:off x="5650992" y="2103120"/>
            <a:ext cx="1243584" cy="1097280"/>
          </a:xfrm>
          <a:prstGeom prst="rect">
            <a:avLst/>
          </a:prstGeom>
          <a:noFill/>
          <a:ln/>
        </p:spPr>
        <p:txBody>
          <a:bodyPr wrap="square" lIns="0" tIns="0" rIns="0" bIns="0" rtlCol="0" anchor="t"/>
          <a:lstStyle/>
          <a:p>
            <a:pPr marL="0" indent="0">
              <a:buNone/>
            </a:pPr>
            <a:r>
              <a:rPr lang="en-US" sz="1150" dirty="0">
                <a:solidFill>
                  <a:srgbClr val="1A1A1A"/>
                </a:solidFill>
                <a:latin typeface="Calibri" pitchFamily="34" charset="0"/>
                <a:ea typeface="Calibri" pitchFamily="34" charset="-122"/>
                <a:cs typeface="Calibri" pitchFamily="34" charset="-120"/>
              </a:rPr>
              <a:t>Integrate into</a:t>
            </a:r>
            <a:endParaRPr lang="en-US" sz="1150" dirty="0"/>
          </a:p>
          <a:p>
            <a:pPr marL="0" indent="0">
              <a:buNone/>
            </a:pPr>
            <a:r>
              <a:rPr lang="en-US" sz="1150" dirty="0">
                <a:solidFill>
                  <a:srgbClr val="1A1A1A"/>
                </a:solidFill>
                <a:latin typeface="Calibri" pitchFamily="34" charset="0"/>
                <a:ea typeface="Calibri" pitchFamily="34" charset="-122"/>
                <a:cs typeface="Calibri" pitchFamily="34" charset="-120"/>
              </a:rPr>
              <a:t>Full ITS</a:t>
            </a:r>
            <a:endParaRPr lang="en-US" sz="1150" dirty="0"/>
          </a:p>
        </p:txBody>
      </p:sp>
      <p:sp>
        <p:nvSpPr>
          <p:cNvPr id="20" name="Shape 18"/>
          <p:cNvSpPr/>
          <p:nvPr/>
        </p:nvSpPr>
        <p:spPr>
          <a:xfrm>
            <a:off x="7004304" y="2386584"/>
            <a:ext cx="237744" cy="164592"/>
          </a:xfrm>
          <a:prstGeom prst="rightArrow">
            <a:avLst/>
          </a:prstGeom>
          <a:solidFill>
            <a:srgbClr val="1E4028"/>
          </a:solidFill>
          <a:ln w="12700">
            <a:solidFill>
              <a:srgbClr val="1E4028"/>
            </a:solidFill>
            <a:prstDash val="solid"/>
          </a:ln>
        </p:spPr>
        <p:txBody>
          <a:bodyPr/>
          <a:lstStyle/>
          <a:p>
            <a:endParaRPr lang="en-US"/>
          </a:p>
        </p:txBody>
      </p:sp>
      <p:sp>
        <p:nvSpPr>
          <p:cNvPr id="21" name="Shape 19"/>
          <p:cNvSpPr/>
          <p:nvPr/>
        </p:nvSpPr>
        <p:spPr>
          <a:xfrm>
            <a:off x="7260336" y="1600200"/>
            <a:ext cx="1426464" cy="1737360"/>
          </a:xfrm>
          <a:prstGeom prst="roundRect">
            <a:avLst>
              <a:gd name="adj" fmla="val 3846"/>
            </a:avLst>
          </a:prstGeom>
          <a:solidFill>
            <a:srgbClr val="2E5E3B"/>
          </a:solidFill>
          <a:ln w="12700">
            <a:solidFill>
              <a:srgbClr val="FFFFFF"/>
            </a:solidFill>
            <a:prstDash val="solid"/>
          </a:ln>
          <a:effectLst>
            <a:outerShdw blurRad="76200" dist="25400" dir="2700000" algn="bl" rotWithShape="0">
              <a:srgbClr val="000000">
                <a:alpha val="12000"/>
              </a:srgbClr>
            </a:outerShdw>
          </a:effectLst>
        </p:spPr>
        <p:txBody>
          <a:bodyPr/>
          <a:lstStyle/>
          <a:p>
            <a:endParaRPr lang="en-US"/>
          </a:p>
        </p:txBody>
      </p:sp>
      <p:sp>
        <p:nvSpPr>
          <p:cNvPr id="22" name="Text 20"/>
          <p:cNvSpPr/>
          <p:nvPr/>
        </p:nvSpPr>
        <p:spPr>
          <a:xfrm>
            <a:off x="7351776" y="1709928"/>
            <a:ext cx="1243584" cy="365760"/>
          </a:xfrm>
          <a:prstGeom prst="rect">
            <a:avLst/>
          </a:prstGeom>
          <a:noFill/>
          <a:ln/>
        </p:spPr>
        <p:txBody>
          <a:bodyPr wrap="square" lIns="0" tIns="0" rIns="0" bIns="0" rtlCol="0" anchor="ctr"/>
          <a:lstStyle/>
          <a:p>
            <a:pPr marL="0" indent="0">
              <a:buNone/>
            </a:pPr>
            <a:r>
              <a:rPr lang="en-US" sz="1500" b="1" dirty="0">
                <a:solidFill>
                  <a:srgbClr val="FFD700"/>
                </a:solidFill>
                <a:latin typeface="Cambria" pitchFamily="34" charset="0"/>
                <a:ea typeface="Cambria" pitchFamily="34" charset="-122"/>
                <a:cs typeface="Cambria" pitchFamily="34" charset="-120"/>
              </a:rPr>
              <a:t>5</a:t>
            </a:r>
            <a:endParaRPr lang="en-US" sz="1500" dirty="0"/>
          </a:p>
        </p:txBody>
      </p:sp>
      <p:sp>
        <p:nvSpPr>
          <p:cNvPr id="23" name="Text 21"/>
          <p:cNvSpPr/>
          <p:nvPr/>
        </p:nvSpPr>
        <p:spPr>
          <a:xfrm>
            <a:off x="7351776" y="2103120"/>
            <a:ext cx="1243584" cy="1097280"/>
          </a:xfrm>
          <a:prstGeom prst="rect">
            <a:avLst/>
          </a:prstGeom>
          <a:noFill/>
          <a:ln/>
        </p:spPr>
        <p:txBody>
          <a:bodyPr wrap="square" lIns="0" tIns="0" rIns="0" bIns="0" rtlCol="0" anchor="t"/>
          <a:lstStyle/>
          <a:p>
            <a:pPr marL="0" indent="0">
              <a:buNone/>
            </a:pPr>
            <a:r>
              <a:rPr lang="en-US" sz="1150" dirty="0">
                <a:solidFill>
                  <a:srgbClr val="FFFFFF"/>
                </a:solidFill>
                <a:latin typeface="Calibri" pitchFamily="34" charset="0"/>
                <a:ea typeface="Calibri" pitchFamily="34" charset="-122"/>
                <a:cs typeface="Calibri" pitchFamily="34" charset="-120"/>
              </a:rPr>
              <a:t>Test with</a:t>
            </a:r>
            <a:endParaRPr lang="en-US" sz="1150" dirty="0"/>
          </a:p>
          <a:p>
            <a:pPr marL="0" indent="0">
              <a:buNone/>
            </a:pPr>
            <a:r>
              <a:rPr lang="en-US" sz="1150" dirty="0">
                <a:solidFill>
                  <a:srgbClr val="FFFFFF"/>
                </a:solidFill>
                <a:latin typeface="Calibri" pitchFamily="34" charset="0"/>
                <a:ea typeface="Calibri" pitchFamily="34" charset="-122"/>
                <a:cs typeface="Calibri" pitchFamily="34" charset="-120"/>
              </a:rPr>
              <a:t>Students </a:t>
            </a:r>
            <a:endParaRPr lang="en-US" sz="1150" dirty="0"/>
          </a:p>
        </p:txBody>
      </p:sp>
      <p:sp>
        <p:nvSpPr>
          <p:cNvPr id="24" name="Shape 22"/>
          <p:cNvSpPr/>
          <p:nvPr/>
        </p:nvSpPr>
        <p:spPr>
          <a:xfrm>
            <a:off x="457200" y="3611880"/>
            <a:ext cx="8229600" cy="1188720"/>
          </a:xfrm>
          <a:prstGeom prst="roundRect">
            <a:avLst>
              <a:gd name="adj" fmla="val 4615"/>
            </a:avLst>
          </a:prstGeom>
          <a:solidFill>
            <a:srgbClr val="EFEEE9"/>
          </a:solidFill>
          <a:ln w="12700">
            <a:solidFill>
              <a:srgbClr val="FFFFFF"/>
            </a:solidFill>
            <a:prstDash val="solid"/>
          </a:ln>
        </p:spPr>
        <p:txBody>
          <a:bodyPr/>
          <a:lstStyle/>
          <a:p>
            <a:endParaRPr lang="en-US"/>
          </a:p>
        </p:txBody>
      </p:sp>
      <p:sp>
        <p:nvSpPr>
          <p:cNvPr id="25" name="Text 23"/>
          <p:cNvSpPr/>
          <p:nvPr/>
        </p:nvSpPr>
        <p:spPr>
          <a:xfrm>
            <a:off x="640080" y="3611880"/>
            <a:ext cx="7863840" cy="1188720"/>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Agent-level evaluation happens </a:t>
            </a:r>
            <a:r>
              <a:rPr lang="en-US" sz="1200" b="1" i="1" dirty="0">
                <a:solidFill>
                  <a:srgbClr val="1E4028"/>
                </a:solidFill>
                <a:latin typeface="Calibri" pitchFamily="34" charset="0"/>
                <a:ea typeface="Calibri" pitchFamily="34" charset="-122"/>
                <a:cs typeface="Calibri" pitchFamily="34" charset="-120"/>
              </a:rPr>
              <a:t>before</a:t>
            </a:r>
            <a:r>
              <a:rPr lang="en-US" sz="1200" dirty="0">
                <a:solidFill>
                  <a:srgbClr val="1A1A1A"/>
                </a:solidFill>
                <a:latin typeface="Calibri" pitchFamily="34" charset="0"/>
                <a:ea typeface="Calibri" pitchFamily="34" charset="-122"/>
                <a:cs typeface="Calibri" pitchFamily="34" charset="-120"/>
              </a:rPr>
              <a:t> full-system integration — it's cheaper to validate each agent against ground truth in isolation, and it de-risks the later student study.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3E2DE"/>
        </a:solidFill>
        <a:effectLst/>
      </p:bgPr>
    </p:bg>
    <p:spTree>
      <p:nvGrpSpPr>
        <p:cNvPr id="1" name=""/>
        <p:cNvGrpSpPr/>
        <p:nvPr/>
      </p:nvGrpSpPr>
      <p:grpSpPr>
        <a:xfrm>
          <a:off x="0" y="0"/>
          <a:ext cx="0" cy="0"/>
          <a:chOff x="0" y="0"/>
          <a:chExt cx="0" cy="0"/>
        </a:xfrm>
      </p:grpSpPr>
      <p:sp>
        <p:nvSpPr>
          <p:cNvPr id="2" name="Text 0"/>
          <p:cNvSpPr/>
          <p:nvPr/>
        </p:nvSpPr>
        <p:spPr>
          <a:xfrm>
            <a:off x="457200" y="256032"/>
            <a:ext cx="6400800" cy="274320"/>
          </a:xfrm>
          <a:prstGeom prst="rect">
            <a:avLst/>
          </a:prstGeom>
          <a:noFill/>
          <a:ln/>
        </p:spPr>
        <p:txBody>
          <a:bodyPr wrap="square" lIns="0" tIns="0" rIns="0" bIns="0" rtlCol="0" anchor="ctr"/>
          <a:lstStyle/>
          <a:p>
            <a:pPr marL="0" indent="0">
              <a:buNone/>
            </a:pPr>
            <a:r>
              <a:rPr lang="en-US" sz="1100" b="1" kern="0" spc="200" dirty="0">
                <a:solidFill>
                  <a:srgbClr val="2E5E3B"/>
                </a:solidFill>
                <a:latin typeface="Calibri" pitchFamily="34" charset="0"/>
                <a:ea typeface="Calibri" pitchFamily="34" charset="-122"/>
                <a:cs typeface="Calibri" pitchFamily="34" charset="-120"/>
              </a:rPr>
              <a:t>SYSTEM DESIGN</a:t>
            </a:r>
            <a:endParaRPr lang="en-US" sz="1100" dirty="0"/>
          </a:p>
        </p:txBody>
      </p:sp>
      <p:sp>
        <p:nvSpPr>
          <p:cNvPr id="3" name="Text 1"/>
          <p:cNvSpPr/>
          <p:nvPr/>
        </p:nvSpPr>
        <p:spPr>
          <a:xfrm>
            <a:off x="457200" y="502920"/>
            <a:ext cx="8229600" cy="548640"/>
          </a:xfrm>
          <a:prstGeom prst="rect">
            <a:avLst/>
          </a:prstGeom>
          <a:noFill/>
          <a:ln/>
        </p:spPr>
        <p:txBody>
          <a:bodyPr wrap="square" lIns="0" tIns="0" rIns="0" bIns="0" rtlCol="0" anchor="ctr"/>
          <a:lstStyle/>
          <a:p>
            <a:pPr marL="0" indent="0">
              <a:buNone/>
            </a:pPr>
            <a:r>
              <a:rPr lang="en-US" sz="2600" b="1" dirty="0">
                <a:solidFill>
                  <a:srgbClr val="1E4028"/>
                </a:solidFill>
                <a:latin typeface="Cambria" pitchFamily="34" charset="0"/>
                <a:ea typeface="Cambria" pitchFamily="34" charset="-122"/>
                <a:cs typeface="Cambria" pitchFamily="34" charset="-120"/>
              </a:rPr>
              <a:t>SEE-I Interaction Flow</a:t>
            </a:r>
            <a:endParaRPr lang="en-US" sz="2600" dirty="0"/>
          </a:p>
        </p:txBody>
      </p:sp>
      <p:sp>
        <p:nvSpPr>
          <p:cNvPr id="4" name="Text 2"/>
          <p:cNvSpPr/>
          <p:nvPr/>
        </p:nvSpPr>
        <p:spPr>
          <a:xfrm>
            <a:off x="8732520" y="4846320"/>
            <a:ext cx="365760" cy="256032"/>
          </a:xfrm>
          <a:prstGeom prst="rect">
            <a:avLst/>
          </a:prstGeom>
          <a:noFill/>
          <a:ln/>
        </p:spPr>
        <p:txBody>
          <a:bodyPr wrap="square" lIns="0" tIns="0" rIns="0" bIns="0" rtlCol="0" anchor="ctr"/>
          <a:lstStyle/>
          <a:p>
            <a:pPr marL="0" indent="0" algn="r">
              <a:buNone/>
            </a:pPr>
            <a:r>
              <a:rPr lang="en-US" sz="1000" dirty="0">
                <a:solidFill>
                  <a:srgbClr val="5B6B60"/>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365760" y="1188720"/>
            <a:ext cx="1521562" cy="1005840"/>
          </a:xfrm>
          <a:prstGeom prst="roundRect">
            <a:avLst>
              <a:gd name="adj" fmla="val 5455"/>
            </a:avLst>
          </a:prstGeom>
          <a:solidFill>
            <a:srgbClr val="2E5E3B"/>
          </a:solidFill>
          <a:ln w="12700">
            <a:solidFill>
              <a:srgbClr val="FFFFFF"/>
            </a:solidFill>
            <a:prstDash val="solid"/>
          </a:ln>
          <a:effectLst>
            <a:outerShdw blurRad="76200" dist="25400" dir="2700000" algn="bl" rotWithShape="0">
              <a:srgbClr val="000000">
                <a:alpha val="12000"/>
              </a:srgbClr>
            </a:outerShdw>
          </a:effectLst>
        </p:spPr>
        <p:txBody>
          <a:bodyPr/>
          <a:lstStyle/>
          <a:p>
            <a:endParaRPr lang="en-US"/>
          </a:p>
        </p:txBody>
      </p:sp>
      <p:sp>
        <p:nvSpPr>
          <p:cNvPr id="6" name="Text 4"/>
          <p:cNvSpPr/>
          <p:nvPr/>
        </p:nvSpPr>
        <p:spPr>
          <a:xfrm>
            <a:off x="420624" y="1188720"/>
            <a:ext cx="1411834" cy="1005840"/>
          </a:xfrm>
          <a:prstGeom prst="rect">
            <a:avLst/>
          </a:prstGeom>
          <a:noFill/>
          <a:ln/>
        </p:spPr>
        <p:txBody>
          <a:bodyPr wrap="square" lIns="25400" tIns="25400" rIns="25400" bIns="2540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Professor uploads a</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reading + core components</a:t>
            </a:r>
            <a:endParaRPr lang="en-US" sz="950" dirty="0"/>
          </a:p>
        </p:txBody>
      </p:sp>
      <p:sp>
        <p:nvSpPr>
          <p:cNvPr id="7" name="Shape 5"/>
          <p:cNvSpPr/>
          <p:nvPr/>
        </p:nvSpPr>
        <p:spPr>
          <a:xfrm>
            <a:off x="1887322" y="1618488"/>
            <a:ext cx="182880" cy="146304"/>
          </a:xfrm>
          <a:prstGeom prst="rightArrow">
            <a:avLst/>
          </a:prstGeom>
          <a:solidFill>
            <a:srgbClr val="1E4028"/>
          </a:solidFill>
          <a:ln w="12700">
            <a:solidFill>
              <a:srgbClr val="1E4028"/>
            </a:solidFill>
            <a:prstDash val="solid"/>
          </a:ln>
        </p:spPr>
        <p:txBody>
          <a:bodyPr/>
          <a:lstStyle/>
          <a:p>
            <a:endParaRPr lang="en-US"/>
          </a:p>
        </p:txBody>
      </p:sp>
      <p:sp>
        <p:nvSpPr>
          <p:cNvPr id="8" name="Shape 6"/>
          <p:cNvSpPr/>
          <p:nvPr/>
        </p:nvSpPr>
        <p:spPr>
          <a:xfrm>
            <a:off x="2088490" y="1188720"/>
            <a:ext cx="1521562" cy="1005840"/>
          </a:xfrm>
          <a:prstGeom prst="roundRect">
            <a:avLst>
              <a:gd name="adj" fmla="val 5455"/>
            </a:avLst>
          </a:prstGeom>
          <a:solidFill>
            <a:srgbClr val="2E5E3B"/>
          </a:solidFill>
          <a:ln w="12700">
            <a:solidFill>
              <a:srgbClr val="FFFFFF"/>
            </a:solidFill>
            <a:prstDash val="solid"/>
          </a:ln>
          <a:effectLst>
            <a:outerShdw blurRad="76200" dist="25400" dir="2700000" algn="bl" rotWithShape="0">
              <a:srgbClr val="000000">
                <a:alpha val="12000"/>
              </a:srgbClr>
            </a:outerShdw>
          </a:effectLst>
        </p:spPr>
        <p:txBody>
          <a:bodyPr/>
          <a:lstStyle/>
          <a:p>
            <a:endParaRPr lang="en-US"/>
          </a:p>
        </p:txBody>
      </p:sp>
      <p:sp>
        <p:nvSpPr>
          <p:cNvPr id="9" name="Text 7"/>
          <p:cNvSpPr/>
          <p:nvPr/>
        </p:nvSpPr>
        <p:spPr>
          <a:xfrm>
            <a:off x="2143354" y="1188720"/>
            <a:ext cx="1411834" cy="1005840"/>
          </a:xfrm>
          <a:prstGeom prst="rect">
            <a:avLst/>
          </a:prstGeom>
          <a:noFill/>
          <a:ln/>
        </p:spPr>
        <p:txBody>
          <a:bodyPr wrap="square" lIns="25400" tIns="25400" rIns="25400" bIns="2540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Student selects a</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reading, starts session</a:t>
            </a:r>
            <a:endParaRPr lang="en-US" sz="950" dirty="0"/>
          </a:p>
        </p:txBody>
      </p:sp>
      <p:sp>
        <p:nvSpPr>
          <p:cNvPr id="10" name="Shape 8"/>
          <p:cNvSpPr/>
          <p:nvPr/>
        </p:nvSpPr>
        <p:spPr>
          <a:xfrm>
            <a:off x="3610051" y="1618488"/>
            <a:ext cx="182880" cy="146304"/>
          </a:xfrm>
          <a:prstGeom prst="rightArrow">
            <a:avLst/>
          </a:prstGeom>
          <a:solidFill>
            <a:srgbClr val="1E4028"/>
          </a:solidFill>
          <a:ln w="12700">
            <a:solidFill>
              <a:srgbClr val="1E4028"/>
            </a:solidFill>
            <a:prstDash val="solid"/>
          </a:ln>
        </p:spPr>
        <p:txBody>
          <a:bodyPr/>
          <a:lstStyle/>
          <a:p>
            <a:endParaRPr lang="en-US"/>
          </a:p>
        </p:txBody>
      </p:sp>
      <p:sp>
        <p:nvSpPr>
          <p:cNvPr id="11" name="Shape 9"/>
          <p:cNvSpPr/>
          <p:nvPr/>
        </p:nvSpPr>
        <p:spPr>
          <a:xfrm>
            <a:off x="3811219" y="1188720"/>
            <a:ext cx="1521562" cy="1005840"/>
          </a:xfrm>
          <a:prstGeom prst="roundRect">
            <a:avLst>
              <a:gd name="adj" fmla="val 5455"/>
            </a:avLst>
          </a:prstGeom>
          <a:solidFill>
            <a:srgbClr val="2E5E3B"/>
          </a:solidFill>
          <a:ln w="12700">
            <a:solidFill>
              <a:srgbClr val="FFFFFF"/>
            </a:solidFill>
            <a:prstDash val="solid"/>
          </a:ln>
          <a:effectLst>
            <a:outerShdw blurRad="76200" dist="25400" dir="2700000" algn="bl" rotWithShape="0">
              <a:srgbClr val="000000">
                <a:alpha val="12000"/>
              </a:srgbClr>
            </a:outerShdw>
          </a:effectLst>
        </p:spPr>
        <p:txBody>
          <a:bodyPr/>
          <a:lstStyle/>
          <a:p>
            <a:endParaRPr lang="en-US"/>
          </a:p>
        </p:txBody>
      </p:sp>
      <p:sp>
        <p:nvSpPr>
          <p:cNvPr id="12" name="Text 10"/>
          <p:cNvSpPr/>
          <p:nvPr/>
        </p:nvSpPr>
        <p:spPr>
          <a:xfrm>
            <a:off x="3866083" y="1188720"/>
            <a:ext cx="1411834" cy="1005840"/>
          </a:xfrm>
          <a:prstGeom prst="rect">
            <a:avLst/>
          </a:prstGeom>
          <a:noFill/>
          <a:ln/>
        </p:spPr>
        <p:txBody>
          <a:bodyPr wrap="square" lIns="25400" tIns="25400" rIns="25400" bIns="2540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SENSEEI prompts the</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current SEE-I step</a:t>
            </a:r>
            <a:endParaRPr lang="en-US" sz="950" dirty="0"/>
          </a:p>
        </p:txBody>
      </p:sp>
      <p:sp>
        <p:nvSpPr>
          <p:cNvPr id="13" name="Shape 11"/>
          <p:cNvSpPr/>
          <p:nvPr/>
        </p:nvSpPr>
        <p:spPr>
          <a:xfrm>
            <a:off x="5332781" y="1618488"/>
            <a:ext cx="182880" cy="146304"/>
          </a:xfrm>
          <a:prstGeom prst="rightArrow">
            <a:avLst/>
          </a:prstGeom>
          <a:solidFill>
            <a:srgbClr val="1E4028"/>
          </a:solidFill>
          <a:ln w="12700">
            <a:solidFill>
              <a:srgbClr val="1E4028"/>
            </a:solidFill>
            <a:prstDash val="solid"/>
          </a:ln>
        </p:spPr>
        <p:txBody>
          <a:bodyPr/>
          <a:lstStyle/>
          <a:p>
            <a:endParaRPr lang="en-US"/>
          </a:p>
        </p:txBody>
      </p:sp>
      <p:sp>
        <p:nvSpPr>
          <p:cNvPr id="14" name="Shape 12"/>
          <p:cNvSpPr/>
          <p:nvPr/>
        </p:nvSpPr>
        <p:spPr>
          <a:xfrm>
            <a:off x="5533949" y="1188720"/>
            <a:ext cx="1521562" cy="1005840"/>
          </a:xfrm>
          <a:prstGeom prst="roundRect">
            <a:avLst>
              <a:gd name="adj" fmla="val 5455"/>
            </a:avLst>
          </a:prstGeom>
          <a:solidFill>
            <a:srgbClr val="2E5E3B"/>
          </a:solidFill>
          <a:ln w="12700">
            <a:solidFill>
              <a:srgbClr val="FFFFFF"/>
            </a:solidFill>
            <a:prstDash val="solid"/>
          </a:ln>
          <a:effectLst>
            <a:outerShdw blurRad="76200" dist="25400" dir="2700000" algn="bl" rotWithShape="0">
              <a:srgbClr val="000000">
                <a:alpha val="12000"/>
              </a:srgbClr>
            </a:outerShdw>
          </a:effectLst>
        </p:spPr>
        <p:txBody>
          <a:bodyPr/>
          <a:lstStyle/>
          <a:p>
            <a:endParaRPr lang="en-US"/>
          </a:p>
        </p:txBody>
      </p:sp>
      <p:sp>
        <p:nvSpPr>
          <p:cNvPr id="15" name="Text 13"/>
          <p:cNvSpPr/>
          <p:nvPr/>
        </p:nvSpPr>
        <p:spPr>
          <a:xfrm>
            <a:off x="5588813" y="1188720"/>
            <a:ext cx="1411834" cy="1005840"/>
          </a:xfrm>
          <a:prstGeom prst="rect">
            <a:avLst/>
          </a:prstGeom>
          <a:noFill/>
          <a:ln/>
        </p:spPr>
        <p:txBody>
          <a:bodyPr wrap="square" lIns="25400" tIns="25400" rIns="25400" bIns="2540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Student</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answers</a:t>
            </a:r>
            <a:endParaRPr lang="en-US" sz="950" dirty="0"/>
          </a:p>
        </p:txBody>
      </p:sp>
      <p:sp>
        <p:nvSpPr>
          <p:cNvPr id="16" name="Shape 14"/>
          <p:cNvSpPr/>
          <p:nvPr/>
        </p:nvSpPr>
        <p:spPr>
          <a:xfrm>
            <a:off x="7055510" y="1618488"/>
            <a:ext cx="182880" cy="146304"/>
          </a:xfrm>
          <a:prstGeom prst="rightArrow">
            <a:avLst/>
          </a:prstGeom>
          <a:solidFill>
            <a:srgbClr val="1E4028"/>
          </a:solidFill>
          <a:ln w="12700">
            <a:solidFill>
              <a:srgbClr val="1E4028"/>
            </a:solidFill>
            <a:prstDash val="solid"/>
          </a:ln>
        </p:spPr>
        <p:txBody>
          <a:bodyPr/>
          <a:lstStyle/>
          <a:p>
            <a:endParaRPr lang="en-US"/>
          </a:p>
        </p:txBody>
      </p:sp>
      <p:sp>
        <p:nvSpPr>
          <p:cNvPr id="17" name="Shape 15"/>
          <p:cNvSpPr/>
          <p:nvPr/>
        </p:nvSpPr>
        <p:spPr>
          <a:xfrm>
            <a:off x="7256678" y="1188720"/>
            <a:ext cx="1521562" cy="1005840"/>
          </a:xfrm>
          <a:prstGeom prst="roundRect">
            <a:avLst>
              <a:gd name="adj" fmla="val 5455"/>
            </a:avLst>
          </a:prstGeom>
          <a:solidFill>
            <a:srgbClr val="2E5E3B"/>
          </a:solidFill>
          <a:ln w="12700">
            <a:solidFill>
              <a:srgbClr val="FFFFFF"/>
            </a:solidFill>
            <a:prstDash val="solid"/>
          </a:ln>
          <a:effectLst>
            <a:outerShdw blurRad="76200" dist="25400" dir="2700000" algn="bl" rotWithShape="0">
              <a:srgbClr val="000000">
                <a:alpha val="12000"/>
              </a:srgbClr>
            </a:outerShdw>
          </a:effectLst>
        </p:spPr>
        <p:txBody>
          <a:bodyPr/>
          <a:lstStyle/>
          <a:p>
            <a:endParaRPr lang="en-US"/>
          </a:p>
        </p:txBody>
      </p:sp>
      <p:sp>
        <p:nvSpPr>
          <p:cNvPr id="18" name="Text 16"/>
          <p:cNvSpPr/>
          <p:nvPr/>
        </p:nvSpPr>
        <p:spPr>
          <a:xfrm>
            <a:off x="7311542" y="1188720"/>
            <a:ext cx="1411834" cy="1005840"/>
          </a:xfrm>
          <a:prstGeom prst="rect">
            <a:avLst/>
          </a:prstGeom>
          <a:noFill/>
          <a:ln/>
        </p:spPr>
        <p:txBody>
          <a:bodyPr wrap="square" lIns="25400" tIns="25400" rIns="25400" bIns="2540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Assessment Agent checks</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the response</a:t>
            </a:r>
            <a:endParaRPr lang="en-US" sz="950" dirty="0"/>
          </a:p>
        </p:txBody>
      </p:sp>
      <p:sp>
        <p:nvSpPr>
          <p:cNvPr id="19" name="Shape 17"/>
          <p:cNvSpPr/>
          <p:nvPr/>
        </p:nvSpPr>
        <p:spPr>
          <a:xfrm>
            <a:off x="4489704" y="2249424"/>
            <a:ext cx="164592" cy="219456"/>
          </a:xfrm>
          <a:prstGeom prst="downArrow">
            <a:avLst/>
          </a:prstGeom>
          <a:solidFill>
            <a:srgbClr val="1E4028"/>
          </a:solidFill>
          <a:ln w="12700">
            <a:solidFill>
              <a:srgbClr val="1E4028"/>
            </a:solidFill>
            <a:prstDash val="solid"/>
          </a:ln>
        </p:spPr>
        <p:txBody>
          <a:bodyPr/>
          <a:lstStyle/>
          <a:p>
            <a:endParaRPr lang="en-US"/>
          </a:p>
        </p:txBody>
      </p:sp>
      <p:sp>
        <p:nvSpPr>
          <p:cNvPr id="20" name="Shape 18"/>
          <p:cNvSpPr/>
          <p:nvPr/>
        </p:nvSpPr>
        <p:spPr>
          <a:xfrm>
            <a:off x="2651760" y="2523744"/>
            <a:ext cx="3840480" cy="566928"/>
          </a:xfrm>
          <a:prstGeom prst="roundRect">
            <a:avLst>
              <a:gd name="adj" fmla="val 9677"/>
            </a:avLst>
          </a:prstGeom>
          <a:solidFill>
            <a:srgbClr val="FFD700"/>
          </a:solidFill>
          <a:ln w="12700">
            <a:solidFill>
              <a:srgbClr val="FFFFFF"/>
            </a:solidFill>
            <a:prstDash val="solid"/>
          </a:ln>
          <a:effectLst>
            <a:outerShdw blurRad="76200" dist="25400" dir="2700000" algn="bl" rotWithShape="0">
              <a:srgbClr val="000000">
                <a:alpha val="12000"/>
              </a:srgbClr>
            </a:outerShdw>
          </a:effectLst>
        </p:spPr>
        <p:txBody>
          <a:bodyPr/>
          <a:lstStyle/>
          <a:p>
            <a:endParaRPr lang="en-US"/>
          </a:p>
        </p:txBody>
      </p:sp>
      <p:sp>
        <p:nvSpPr>
          <p:cNvPr id="21" name="Text 19"/>
          <p:cNvSpPr/>
          <p:nvPr/>
        </p:nvSpPr>
        <p:spPr>
          <a:xfrm>
            <a:off x="2788920" y="2523744"/>
            <a:ext cx="3566160" cy="566928"/>
          </a:xfrm>
          <a:prstGeom prst="rect">
            <a:avLst/>
          </a:prstGeom>
          <a:noFill/>
          <a:ln/>
        </p:spPr>
        <p:txBody>
          <a:bodyPr wrap="square" lIns="0" tIns="0" rIns="0" bIns="0" rtlCol="0" anchor="ctr"/>
          <a:lstStyle/>
          <a:p>
            <a:pPr marL="0" indent="0" algn="ctr">
              <a:buNone/>
            </a:pPr>
            <a:r>
              <a:rPr lang="en-US" sz="1200" b="1" dirty="0">
                <a:solidFill>
                  <a:srgbClr val="1E4028"/>
                </a:solidFill>
                <a:latin typeface="Calibri" pitchFamily="34" charset="0"/>
                <a:ea typeface="Calibri" pitchFamily="34" charset="-122"/>
                <a:cs typeface="Calibri" pitchFamily="34" charset="-120"/>
              </a:rPr>
              <a:t>Does the response PASS every rubric criterion?</a:t>
            </a:r>
            <a:endParaRPr lang="en-US" sz="1200" dirty="0"/>
          </a:p>
        </p:txBody>
      </p:sp>
      <p:sp>
        <p:nvSpPr>
          <p:cNvPr id="22" name="Shape 20"/>
          <p:cNvSpPr/>
          <p:nvPr/>
        </p:nvSpPr>
        <p:spPr>
          <a:xfrm>
            <a:off x="3260750" y="3145536"/>
            <a:ext cx="164592" cy="201168"/>
          </a:xfrm>
          <a:prstGeom prst="downArrow">
            <a:avLst/>
          </a:prstGeom>
          <a:solidFill>
            <a:srgbClr val="1E4028"/>
          </a:solidFill>
          <a:ln w="12700">
            <a:solidFill>
              <a:srgbClr val="1E4028"/>
            </a:solidFill>
            <a:prstDash val="solid"/>
          </a:ln>
        </p:spPr>
        <p:txBody>
          <a:bodyPr/>
          <a:lstStyle/>
          <a:p>
            <a:endParaRPr lang="en-US"/>
          </a:p>
        </p:txBody>
      </p:sp>
      <p:sp>
        <p:nvSpPr>
          <p:cNvPr id="23" name="Shape 21"/>
          <p:cNvSpPr/>
          <p:nvPr/>
        </p:nvSpPr>
        <p:spPr>
          <a:xfrm>
            <a:off x="5718658" y="3145536"/>
            <a:ext cx="164592" cy="201168"/>
          </a:xfrm>
          <a:prstGeom prst="downArrow">
            <a:avLst/>
          </a:prstGeom>
          <a:solidFill>
            <a:srgbClr val="1E4028"/>
          </a:solidFill>
          <a:ln w="12700">
            <a:solidFill>
              <a:srgbClr val="1E4028"/>
            </a:solidFill>
            <a:prstDash val="solid"/>
          </a:ln>
        </p:spPr>
        <p:txBody>
          <a:bodyPr/>
          <a:lstStyle/>
          <a:p>
            <a:endParaRPr lang="en-US"/>
          </a:p>
        </p:txBody>
      </p:sp>
      <p:sp>
        <p:nvSpPr>
          <p:cNvPr id="24" name="Text 22"/>
          <p:cNvSpPr/>
          <p:nvPr/>
        </p:nvSpPr>
        <p:spPr>
          <a:xfrm>
            <a:off x="2840126" y="3108960"/>
            <a:ext cx="411480" cy="256032"/>
          </a:xfrm>
          <a:prstGeom prst="rect">
            <a:avLst/>
          </a:prstGeom>
          <a:noFill/>
          <a:ln/>
        </p:spPr>
        <p:txBody>
          <a:bodyPr wrap="square" lIns="0" tIns="0" rIns="0" bIns="0" rtlCol="0" anchor="ctr"/>
          <a:lstStyle/>
          <a:p>
            <a:pPr marL="0" indent="0" algn="r">
              <a:buNone/>
            </a:pPr>
            <a:r>
              <a:rPr lang="en-US" sz="1100" b="1" dirty="0">
                <a:solidFill>
                  <a:srgbClr val="1E4028"/>
                </a:solidFill>
                <a:latin typeface="Calibri" pitchFamily="34" charset="0"/>
                <a:ea typeface="Calibri" pitchFamily="34" charset="-122"/>
                <a:cs typeface="Calibri" pitchFamily="34" charset="-120"/>
              </a:rPr>
              <a:t>NO</a:t>
            </a:r>
            <a:endParaRPr lang="en-US" sz="1100" dirty="0"/>
          </a:p>
        </p:txBody>
      </p:sp>
      <p:sp>
        <p:nvSpPr>
          <p:cNvPr id="25" name="Text 23"/>
          <p:cNvSpPr/>
          <p:nvPr/>
        </p:nvSpPr>
        <p:spPr>
          <a:xfrm>
            <a:off x="5910682" y="3108960"/>
            <a:ext cx="457200" cy="256032"/>
          </a:xfrm>
          <a:prstGeom prst="rect">
            <a:avLst/>
          </a:prstGeom>
          <a:noFill/>
          <a:ln/>
        </p:spPr>
        <p:txBody>
          <a:bodyPr wrap="square" lIns="0" tIns="0" rIns="0" bIns="0" rtlCol="0" anchor="ctr"/>
          <a:lstStyle/>
          <a:p>
            <a:pPr marL="0" indent="0">
              <a:buNone/>
            </a:pPr>
            <a:r>
              <a:rPr lang="en-US" sz="1100" b="1" dirty="0">
                <a:solidFill>
                  <a:srgbClr val="1E4028"/>
                </a:solidFill>
                <a:latin typeface="Calibri" pitchFamily="34" charset="0"/>
                <a:ea typeface="Calibri" pitchFamily="34" charset="-122"/>
                <a:cs typeface="Calibri" pitchFamily="34" charset="-120"/>
              </a:rPr>
              <a:t>YES</a:t>
            </a:r>
            <a:endParaRPr lang="en-US" sz="1100" dirty="0"/>
          </a:p>
        </p:txBody>
      </p:sp>
      <p:sp>
        <p:nvSpPr>
          <p:cNvPr id="26" name="Shape 24"/>
          <p:cNvSpPr/>
          <p:nvPr/>
        </p:nvSpPr>
        <p:spPr>
          <a:xfrm>
            <a:off x="457200" y="3401568"/>
            <a:ext cx="3931920" cy="1325880"/>
          </a:xfrm>
          <a:prstGeom prst="roundRect">
            <a:avLst>
              <a:gd name="adj" fmla="val 4138"/>
            </a:avLst>
          </a:prstGeom>
          <a:solidFill>
            <a:srgbClr val="FFFFFF"/>
          </a:solidFill>
          <a:ln w="12700">
            <a:solidFill>
              <a:srgbClr val="FFFFFF"/>
            </a:solidFill>
            <a:prstDash val="solid"/>
          </a:ln>
          <a:effectLst>
            <a:outerShdw blurRad="76200" dist="25400" dir="2700000" algn="bl" rotWithShape="0">
              <a:srgbClr val="000000">
                <a:alpha val="12000"/>
              </a:srgbClr>
            </a:outerShdw>
          </a:effectLst>
        </p:spPr>
        <p:txBody>
          <a:bodyPr/>
          <a:lstStyle/>
          <a:p>
            <a:endParaRPr lang="en-US"/>
          </a:p>
        </p:txBody>
      </p:sp>
      <p:sp>
        <p:nvSpPr>
          <p:cNvPr id="27" name="Text 25"/>
          <p:cNvSpPr/>
          <p:nvPr/>
        </p:nvSpPr>
        <p:spPr>
          <a:xfrm>
            <a:off x="594360" y="3511296"/>
            <a:ext cx="3657600" cy="777240"/>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SAA returns the failing criteria; SENSEEI gives feedback — never the completed answer.</a:t>
            </a:r>
            <a:endParaRPr lang="en-US" sz="1100" dirty="0"/>
          </a:p>
        </p:txBody>
      </p:sp>
      <p:sp>
        <p:nvSpPr>
          <p:cNvPr id="28" name="Text 26"/>
          <p:cNvSpPr/>
          <p:nvPr/>
        </p:nvSpPr>
        <p:spPr>
          <a:xfrm>
            <a:off x="594360" y="4270248"/>
            <a:ext cx="3657600" cy="365760"/>
          </a:xfrm>
          <a:prstGeom prst="rect">
            <a:avLst/>
          </a:prstGeom>
          <a:noFill/>
          <a:ln/>
        </p:spPr>
        <p:txBody>
          <a:bodyPr wrap="square" lIns="0" tIns="0" rIns="0" bIns="0" rtlCol="0" anchor="ctr"/>
          <a:lstStyle/>
          <a:p>
            <a:pPr marL="0" indent="0">
              <a:buNone/>
            </a:pPr>
            <a:r>
              <a:rPr lang="en-US" sz="1000" i="1" dirty="0">
                <a:solidFill>
                  <a:srgbClr val="5B6B60"/>
                </a:solidFill>
                <a:latin typeface="Calibri" pitchFamily="34" charset="0"/>
                <a:ea typeface="Calibri" pitchFamily="34" charset="-122"/>
                <a:cs typeface="Calibri" pitchFamily="34" charset="-120"/>
              </a:rPr>
              <a:t>Student stays on the same step and revises.</a:t>
            </a:r>
            <a:endParaRPr lang="en-US" sz="1000" dirty="0"/>
          </a:p>
        </p:txBody>
      </p:sp>
      <p:sp>
        <p:nvSpPr>
          <p:cNvPr id="29" name="Shape 27"/>
          <p:cNvSpPr/>
          <p:nvPr/>
        </p:nvSpPr>
        <p:spPr>
          <a:xfrm>
            <a:off x="4572000" y="3401568"/>
            <a:ext cx="3931920" cy="1325880"/>
          </a:xfrm>
          <a:prstGeom prst="roundRect">
            <a:avLst>
              <a:gd name="adj" fmla="val 4138"/>
            </a:avLst>
          </a:prstGeom>
          <a:solidFill>
            <a:srgbClr val="2E5E3B"/>
          </a:solidFill>
          <a:ln w="12700">
            <a:solidFill>
              <a:srgbClr val="FFFFFF"/>
            </a:solidFill>
            <a:prstDash val="solid"/>
          </a:ln>
          <a:effectLst>
            <a:outerShdw blurRad="76200" dist="25400" dir="2700000" algn="bl" rotWithShape="0">
              <a:srgbClr val="000000">
                <a:alpha val="12000"/>
              </a:srgbClr>
            </a:outerShdw>
          </a:effectLst>
        </p:spPr>
        <p:txBody>
          <a:bodyPr/>
          <a:lstStyle/>
          <a:p>
            <a:endParaRPr lang="en-US"/>
          </a:p>
        </p:txBody>
      </p:sp>
      <p:sp>
        <p:nvSpPr>
          <p:cNvPr id="30" name="Text 28"/>
          <p:cNvSpPr/>
          <p:nvPr/>
        </p:nvSpPr>
        <p:spPr>
          <a:xfrm>
            <a:off x="4709160" y="3511296"/>
            <a:ext cx="3657600" cy="7772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Student advances to the next SEE-I step — or finishes if Illustrate was the last step.</a:t>
            </a:r>
            <a:endParaRPr lang="en-US" sz="1100" dirty="0"/>
          </a:p>
        </p:txBody>
      </p:sp>
      <p:sp>
        <p:nvSpPr>
          <p:cNvPr id="31" name="Text 29"/>
          <p:cNvSpPr/>
          <p:nvPr/>
        </p:nvSpPr>
        <p:spPr>
          <a:xfrm>
            <a:off x="4709160" y="4270248"/>
            <a:ext cx="3657600" cy="365760"/>
          </a:xfrm>
          <a:prstGeom prst="rect">
            <a:avLst/>
          </a:prstGeom>
          <a:noFill/>
          <a:ln/>
        </p:spPr>
        <p:txBody>
          <a:bodyPr wrap="square" lIns="0" tIns="0" rIns="0" bIns="0" rtlCol="0" anchor="ctr"/>
          <a:lstStyle/>
          <a:p>
            <a:pPr marL="0" indent="0">
              <a:buNone/>
            </a:pPr>
            <a:r>
              <a:rPr lang="en-US" sz="1000" i="1" dirty="0">
                <a:solidFill>
                  <a:srgbClr val="E3E2DE"/>
                </a:solidFill>
                <a:latin typeface="Calibri" pitchFamily="34" charset="0"/>
                <a:ea typeface="Calibri" pitchFamily="34" charset="-122"/>
                <a:cs typeface="Calibri" pitchFamily="34" charset="-120"/>
              </a:rPr>
              <a:t>Loops State → Elaborate → Exemplify → Illustrate.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3E2DE"/>
        </a:solidFill>
        <a:effectLst/>
      </p:bgPr>
    </p:bg>
    <p:spTree>
      <p:nvGrpSpPr>
        <p:cNvPr id="1" name=""/>
        <p:cNvGrpSpPr/>
        <p:nvPr/>
      </p:nvGrpSpPr>
      <p:grpSpPr>
        <a:xfrm>
          <a:off x="0" y="0"/>
          <a:ext cx="0" cy="0"/>
          <a:chOff x="0" y="0"/>
          <a:chExt cx="0" cy="0"/>
        </a:xfrm>
      </p:grpSpPr>
      <p:sp>
        <p:nvSpPr>
          <p:cNvPr id="2" name="Text 0"/>
          <p:cNvSpPr/>
          <p:nvPr/>
        </p:nvSpPr>
        <p:spPr>
          <a:xfrm>
            <a:off x="457200" y="256032"/>
            <a:ext cx="6400800" cy="274320"/>
          </a:xfrm>
          <a:prstGeom prst="rect">
            <a:avLst/>
          </a:prstGeom>
          <a:noFill/>
          <a:ln/>
        </p:spPr>
        <p:txBody>
          <a:bodyPr wrap="square" lIns="0" tIns="0" rIns="0" bIns="0" rtlCol="0" anchor="ctr"/>
          <a:lstStyle/>
          <a:p>
            <a:pPr marL="0" indent="0">
              <a:buNone/>
            </a:pPr>
            <a:r>
              <a:rPr lang="en-US" sz="1100" b="1" kern="0" spc="200" dirty="0">
                <a:solidFill>
                  <a:srgbClr val="2E5E3B"/>
                </a:solidFill>
                <a:latin typeface="Calibri" pitchFamily="34" charset="0"/>
                <a:ea typeface="Calibri" pitchFamily="34" charset="-122"/>
                <a:cs typeface="Calibri" pitchFamily="34" charset="-120"/>
              </a:rPr>
              <a:t>FOUNDATIONS</a:t>
            </a:r>
            <a:endParaRPr lang="en-US" sz="1100" dirty="0"/>
          </a:p>
        </p:txBody>
      </p:sp>
      <p:sp>
        <p:nvSpPr>
          <p:cNvPr id="3" name="Text 1"/>
          <p:cNvSpPr/>
          <p:nvPr/>
        </p:nvSpPr>
        <p:spPr>
          <a:xfrm>
            <a:off x="457200" y="502920"/>
            <a:ext cx="8229600" cy="548640"/>
          </a:xfrm>
          <a:prstGeom prst="rect">
            <a:avLst/>
          </a:prstGeom>
          <a:noFill/>
          <a:ln/>
        </p:spPr>
        <p:txBody>
          <a:bodyPr wrap="square" lIns="0" tIns="0" rIns="0" bIns="0" rtlCol="0" anchor="ctr"/>
          <a:lstStyle/>
          <a:p>
            <a:pPr marL="0" indent="0">
              <a:buNone/>
            </a:pPr>
            <a:r>
              <a:rPr lang="en-US" sz="2600" b="1" dirty="0">
                <a:solidFill>
                  <a:srgbClr val="1E4028"/>
                </a:solidFill>
                <a:latin typeface="Cambria" pitchFamily="34" charset="0"/>
                <a:ea typeface="Cambria" pitchFamily="34" charset="-122"/>
                <a:cs typeface="Cambria" pitchFamily="34" charset="-120"/>
              </a:rPr>
              <a:t>Theoretical Framework: How SENSEEI Operationalizes It</a:t>
            </a:r>
            <a:endParaRPr lang="en-US" sz="2600" dirty="0"/>
          </a:p>
        </p:txBody>
      </p:sp>
      <p:sp>
        <p:nvSpPr>
          <p:cNvPr id="4" name="Text 2"/>
          <p:cNvSpPr/>
          <p:nvPr/>
        </p:nvSpPr>
        <p:spPr>
          <a:xfrm>
            <a:off x="8732520" y="4846320"/>
            <a:ext cx="365760" cy="256032"/>
          </a:xfrm>
          <a:prstGeom prst="rect">
            <a:avLst/>
          </a:prstGeom>
          <a:noFill/>
          <a:ln/>
        </p:spPr>
        <p:txBody>
          <a:bodyPr wrap="square" lIns="0" tIns="0" rIns="0" bIns="0" rtlCol="0" anchor="ctr"/>
          <a:lstStyle/>
          <a:p>
            <a:pPr marL="0" indent="0" algn="r">
              <a:buNone/>
            </a:pPr>
            <a:r>
              <a:rPr lang="en-US" sz="1000" dirty="0">
                <a:solidFill>
                  <a:srgbClr val="5B6B60"/>
                </a:solidFill>
                <a:latin typeface="Calibri" pitchFamily="34" charset="0"/>
                <a:ea typeface="Calibri" pitchFamily="34" charset="-122"/>
                <a:cs typeface="Calibri" pitchFamily="34" charset="-120"/>
              </a:rPr>
              <a:t>3</a:t>
            </a:r>
            <a:endParaRPr lang="en-US" sz="1000" dirty="0"/>
          </a:p>
        </p:txBody>
      </p:sp>
      <p:sp>
        <p:nvSpPr>
          <p:cNvPr id="5" name="Shape 3"/>
          <p:cNvSpPr/>
          <p:nvPr/>
        </p:nvSpPr>
        <p:spPr>
          <a:xfrm>
            <a:off x="457200" y="1371600"/>
            <a:ext cx="2331720" cy="1417320"/>
          </a:xfrm>
          <a:prstGeom prst="roundRect">
            <a:avLst>
              <a:gd name="adj" fmla="val 3871"/>
            </a:avLst>
          </a:prstGeom>
          <a:solidFill>
            <a:srgbClr val="FFFFFF"/>
          </a:solidFill>
          <a:ln w="12700">
            <a:solidFill>
              <a:srgbClr val="FFFFFF"/>
            </a:solidFill>
            <a:prstDash val="solid"/>
          </a:ln>
          <a:effectLst>
            <a:outerShdw blurRad="76200" dist="25400" dir="2700000" algn="bl" rotWithShape="0">
              <a:srgbClr val="000000">
                <a:alpha val="12000"/>
              </a:srgbClr>
            </a:outerShdw>
          </a:effectLst>
        </p:spPr>
        <p:txBody>
          <a:bodyPr/>
          <a:lstStyle/>
          <a:p>
            <a:endParaRPr lang="en-US"/>
          </a:p>
        </p:txBody>
      </p:sp>
      <p:sp>
        <p:nvSpPr>
          <p:cNvPr id="6" name="Text 4"/>
          <p:cNvSpPr/>
          <p:nvPr/>
        </p:nvSpPr>
        <p:spPr>
          <a:xfrm>
            <a:off x="594360" y="1490472"/>
            <a:ext cx="2057400" cy="274320"/>
          </a:xfrm>
          <a:prstGeom prst="rect">
            <a:avLst/>
          </a:prstGeom>
          <a:noFill/>
          <a:ln/>
        </p:spPr>
        <p:txBody>
          <a:bodyPr wrap="square" lIns="0" tIns="0" rIns="0" bIns="0" rtlCol="0" anchor="ctr"/>
          <a:lstStyle/>
          <a:p>
            <a:pPr marL="0" indent="0">
              <a:buNone/>
            </a:pPr>
            <a:r>
              <a:rPr lang="en-US" sz="1100" b="1" dirty="0">
                <a:solidFill>
                  <a:srgbClr val="1E4028"/>
                </a:solidFill>
                <a:latin typeface="Calibri" pitchFamily="34" charset="0"/>
                <a:ea typeface="Calibri" pitchFamily="34" charset="-122"/>
                <a:cs typeface="Calibri" pitchFamily="34" charset="-120"/>
              </a:rPr>
              <a:t>CONSTRUCTIVISM</a:t>
            </a:r>
            <a:endParaRPr lang="en-US" sz="1100" dirty="0"/>
          </a:p>
        </p:txBody>
      </p:sp>
      <p:sp>
        <p:nvSpPr>
          <p:cNvPr id="7" name="Text 5"/>
          <p:cNvSpPr/>
          <p:nvPr/>
        </p:nvSpPr>
        <p:spPr>
          <a:xfrm>
            <a:off x="594360" y="1783080"/>
            <a:ext cx="2057400" cy="914400"/>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Learners actively construct knowledge</a:t>
            </a:r>
            <a:endParaRPr lang="en-US" sz="1000" dirty="0"/>
          </a:p>
        </p:txBody>
      </p:sp>
      <p:sp>
        <p:nvSpPr>
          <p:cNvPr id="8" name="Shape 6"/>
          <p:cNvSpPr/>
          <p:nvPr/>
        </p:nvSpPr>
        <p:spPr>
          <a:xfrm>
            <a:off x="2834640" y="1965960"/>
            <a:ext cx="274320" cy="164592"/>
          </a:xfrm>
          <a:prstGeom prst="rightArrow">
            <a:avLst/>
          </a:prstGeom>
          <a:solidFill>
            <a:srgbClr val="1E4028"/>
          </a:solidFill>
          <a:ln w="12700">
            <a:solidFill>
              <a:srgbClr val="1E4028"/>
            </a:solidFill>
            <a:prstDash val="solid"/>
          </a:ln>
        </p:spPr>
        <p:txBody>
          <a:bodyPr/>
          <a:lstStyle/>
          <a:p>
            <a:endParaRPr lang="en-US"/>
          </a:p>
        </p:txBody>
      </p:sp>
      <p:sp>
        <p:nvSpPr>
          <p:cNvPr id="9" name="Shape 7"/>
          <p:cNvSpPr/>
          <p:nvPr/>
        </p:nvSpPr>
        <p:spPr>
          <a:xfrm>
            <a:off x="3154680" y="1371600"/>
            <a:ext cx="2331720" cy="1417320"/>
          </a:xfrm>
          <a:prstGeom prst="roundRect">
            <a:avLst>
              <a:gd name="adj" fmla="val 3871"/>
            </a:avLst>
          </a:prstGeom>
          <a:solidFill>
            <a:srgbClr val="FFFFFF"/>
          </a:solidFill>
          <a:ln w="12700">
            <a:solidFill>
              <a:srgbClr val="FFFFFF"/>
            </a:solidFill>
            <a:prstDash val="solid"/>
          </a:ln>
          <a:effectLst>
            <a:outerShdw blurRad="76200" dist="25400" dir="2700000" algn="bl" rotWithShape="0">
              <a:srgbClr val="000000">
                <a:alpha val="12000"/>
              </a:srgbClr>
            </a:outerShdw>
          </a:effectLst>
        </p:spPr>
        <p:txBody>
          <a:bodyPr/>
          <a:lstStyle/>
          <a:p>
            <a:endParaRPr lang="en-US"/>
          </a:p>
        </p:txBody>
      </p:sp>
      <p:sp>
        <p:nvSpPr>
          <p:cNvPr id="10" name="Text 8"/>
          <p:cNvSpPr/>
          <p:nvPr/>
        </p:nvSpPr>
        <p:spPr>
          <a:xfrm>
            <a:off x="3291840" y="1490472"/>
            <a:ext cx="2057400" cy="274320"/>
          </a:xfrm>
          <a:prstGeom prst="rect">
            <a:avLst/>
          </a:prstGeom>
          <a:noFill/>
          <a:ln/>
        </p:spPr>
        <p:txBody>
          <a:bodyPr wrap="square" lIns="0" tIns="0" rIns="0" bIns="0" rtlCol="0" anchor="ctr"/>
          <a:lstStyle/>
          <a:p>
            <a:pPr marL="0" indent="0">
              <a:buNone/>
            </a:pPr>
            <a:r>
              <a:rPr lang="en-US" sz="1100" b="1" dirty="0">
                <a:solidFill>
                  <a:srgbClr val="1E4028"/>
                </a:solidFill>
                <a:latin typeface="Calibri" pitchFamily="34" charset="0"/>
                <a:ea typeface="Calibri" pitchFamily="34" charset="-122"/>
                <a:cs typeface="Calibri" pitchFamily="34" charset="-120"/>
              </a:rPr>
              <a:t>SCAFFOLDING + ZPD</a:t>
            </a:r>
            <a:endParaRPr lang="en-US" sz="1100" dirty="0"/>
          </a:p>
        </p:txBody>
      </p:sp>
      <p:sp>
        <p:nvSpPr>
          <p:cNvPr id="11" name="Text 9"/>
          <p:cNvSpPr/>
          <p:nvPr/>
        </p:nvSpPr>
        <p:spPr>
          <a:xfrm>
            <a:off x="3291840" y="1783080"/>
            <a:ext cx="2057400" cy="914400"/>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Limited support targeted at the learner's next gap</a:t>
            </a:r>
            <a:endParaRPr lang="en-US" sz="1000" dirty="0"/>
          </a:p>
        </p:txBody>
      </p:sp>
      <p:sp>
        <p:nvSpPr>
          <p:cNvPr id="12" name="Shape 10"/>
          <p:cNvSpPr/>
          <p:nvPr/>
        </p:nvSpPr>
        <p:spPr>
          <a:xfrm>
            <a:off x="5532120" y="1965960"/>
            <a:ext cx="274320" cy="164592"/>
          </a:xfrm>
          <a:prstGeom prst="rightArrow">
            <a:avLst/>
          </a:prstGeom>
          <a:solidFill>
            <a:srgbClr val="1E4028"/>
          </a:solidFill>
          <a:ln w="12700">
            <a:solidFill>
              <a:srgbClr val="1E4028"/>
            </a:solidFill>
            <a:prstDash val="solid"/>
          </a:ln>
        </p:spPr>
        <p:txBody>
          <a:bodyPr/>
          <a:lstStyle/>
          <a:p>
            <a:endParaRPr lang="en-US"/>
          </a:p>
        </p:txBody>
      </p:sp>
      <p:sp>
        <p:nvSpPr>
          <p:cNvPr id="13" name="Shape 11"/>
          <p:cNvSpPr/>
          <p:nvPr/>
        </p:nvSpPr>
        <p:spPr>
          <a:xfrm>
            <a:off x="5852160" y="1371600"/>
            <a:ext cx="1920240" cy="1417320"/>
          </a:xfrm>
          <a:prstGeom prst="roundRect">
            <a:avLst>
              <a:gd name="adj" fmla="val 3871"/>
            </a:avLst>
          </a:prstGeom>
          <a:solidFill>
            <a:srgbClr val="2E5E3B"/>
          </a:solidFill>
          <a:ln w="12700">
            <a:solidFill>
              <a:srgbClr val="FFFFFF"/>
            </a:solidFill>
            <a:prstDash val="solid"/>
          </a:ln>
          <a:effectLst>
            <a:outerShdw blurRad="76200" dist="25400" dir="2700000" algn="bl" rotWithShape="0">
              <a:srgbClr val="000000">
                <a:alpha val="12000"/>
              </a:srgbClr>
            </a:outerShdw>
          </a:effectLst>
        </p:spPr>
        <p:txBody>
          <a:bodyPr/>
          <a:lstStyle/>
          <a:p>
            <a:endParaRPr lang="en-US"/>
          </a:p>
        </p:txBody>
      </p:sp>
      <p:sp>
        <p:nvSpPr>
          <p:cNvPr id="14" name="Text 12"/>
          <p:cNvSpPr/>
          <p:nvPr/>
        </p:nvSpPr>
        <p:spPr>
          <a:xfrm>
            <a:off x="5989320" y="1490472"/>
            <a:ext cx="1645920" cy="274320"/>
          </a:xfrm>
          <a:prstGeom prst="rect">
            <a:avLst/>
          </a:prstGeom>
          <a:noFill/>
          <a:ln/>
        </p:spPr>
        <p:txBody>
          <a:bodyPr wrap="square" lIns="0" tIns="0" rIns="0" bIns="0" rtlCol="0" anchor="ctr"/>
          <a:lstStyle/>
          <a:p>
            <a:pPr marL="0" indent="0">
              <a:buNone/>
            </a:pPr>
            <a:r>
              <a:rPr lang="en-US" sz="1200" b="1" dirty="0">
                <a:solidFill>
                  <a:srgbClr val="FFD700"/>
                </a:solidFill>
                <a:latin typeface="Calibri" pitchFamily="34" charset="0"/>
                <a:ea typeface="Calibri" pitchFamily="34" charset="-122"/>
                <a:cs typeface="Calibri" pitchFamily="34" charset="-120"/>
              </a:rPr>
              <a:t>SEE-I</a:t>
            </a:r>
            <a:endParaRPr lang="en-US" sz="1200" dirty="0"/>
          </a:p>
        </p:txBody>
      </p:sp>
      <p:sp>
        <p:nvSpPr>
          <p:cNvPr id="15" name="Text 13"/>
          <p:cNvSpPr/>
          <p:nvPr/>
        </p:nvSpPr>
        <p:spPr>
          <a:xfrm>
            <a:off x="5989320" y="1783080"/>
            <a:ext cx="1645920" cy="914400"/>
          </a:xfrm>
          <a:prstGeom prst="rect">
            <a:avLst/>
          </a:prstGeom>
          <a:noFill/>
          <a:ln/>
        </p:spPr>
        <p:txBody>
          <a:bodyPr wrap="square" lIns="0" tIns="0" rIns="0" bIns="0" rtlCol="0" anchor="ctr"/>
          <a:lstStyle/>
          <a:p>
            <a:pPr marL="0" indent="0">
              <a:buNone/>
            </a:pPr>
            <a:r>
              <a:rPr lang="en-US" sz="950" dirty="0">
                <a:solidFill>
                  <a:srgbClr val="E3E2DE"/>
                </a:solidFill>
                <a:latin typeface="Calibri" pitchFamily="34" charset="0"/>
                <a:ea typeface="Calibri" pitchFamily="34" charset="-122"/>
                <a:cs typeface="Calibri" pitchFamily="34" charset="-120"/>
              </a:rPr>
              <a:t>Stages for demonstrating conceptual understanding</a:t>
            </a:r>
            <a:endParaRPr lang="en-US" sz="950" dirty="0"/>
          </a:p>
        </p:txBody>
      </p:sp>
      <p:sp>
        <p:nvSpPr>
          <p:cNvPr id="16" name="Shape 14"/>
          <p:cNvSpPr/>
          <p:nvPr/>
        </p:nvSpPr>
        <p:spPr>
          <a:xfrm>
            <a:off x="6720840" y="2834640"/>
            <a:ext cx="146304" cy="256032"/>
          </a:xfrm>
          <a:prstGeom prst="upArrow">
            <a:avLst/>
          </a:prstGeom>
          <a:solidFill>
            <a:srgbClr val="1E4028"/>
          </a:solidFill>
          <a:ln w="12700">
            <a:solidFill>
              <a:srgbClr val="1E4028"/>
            </a:solidFill>
            <a:prstDash val="solid"/>
          </a:ln>
        </p:spPr>
        <p:txBody>
          <a:bodyPr/>
          <a:lstStyle/>
          <a:p>
            <a:endParaRPr lang="en-US"/>
          </a:p>
        </p:txBody>
      </p:sp>
      <p:sp>
        <p:nvSpPr>
          <p:cNvPr id="17" name="Shape 15"/>
          <p:cNvSpPr/>
          <p:nvPr/>
        </p:nvSpPr>
        <p:spPr>
          <a:xfrm>
            <a:off x="6355080" y="2834640"/>
            <a:ext cx="146304" cy="256032"/>
          </a:xfrm>
          <a:prstGeom prst="downArrow">
            <a:avLst/>
          </a:prstGeom>
          <a:solidFill>
            <a:srgbClr val="1E4028"/>
          </a:solidFill>
          <a:ln w="12700">
            <a:solidFill>
              <a:srgbClr val="1E4028"/>
            </a:solidFill>
            <a:prstDash val="solid"/>
          </a:ln>
        </p:spPr>
        <p:txBody>
          <a:bodyPr/>
          <a:lstStyle/>
          <a:p>
            <a:endParaRPr lang="en-US"/>
          </a:p>
        </p:txBody>
      </p:sp>
      <p:sp>
        <p:nvSpPr>
          <p:cNvPr id="18" name="Shape 16"/>
          <p:cNvSpPr/>
          <p:nvPr/>
        </p:nvSpPr>
        <p:spPr>
          <a:xfrm>
            <a:off x="5394960" y="3154680"/>
            <a:ext cx="3291840" cy="1508760"/>
          </a:xfrm>
          <a:prstGeom prst="roundRect">
            <a:avLst>
              <a:gd name="adj" fmla="val 3636"/>
            </a:avLst>
          </a:prstGeom>
          <a:solidFill>
            <a:srgbClr val="1E4028"/>
          </a:solidFill>
          <a:ln w="12700">
            <a:solidFill>
              <a:srgbClr val="FFFFFF"/>
            </a:solidFill>
            <a:prstDash val="solid"/>
          </a:ln>
          <a:effectLst>
            <a:outerShdw blurRad="76200" dist="25400" dir="2700000" algn="bl" rotWithShape="0">
              <a:srgbClr val="000000">
                <a:alpha val="12000"/>
              </a:srgbClr>
            </a:outerShdw>
          </a:effectLst>
        </p:spPr>
        <p:txBody>
          <a:bodyPr/>
          <a:lstStyle/>
          <a:p>
            <a:endParaRPr lang="en-US"/>
          </a:p>
        </p:txBody>
      </p:sp>
      <p:sp>
        <p:nvSpPr>
          <p:cNvPr id="19" name="Text 17"/>
          <p:cNvSpPr/>
          <p:nvPr/>
        </p:nvSpPr>
        <p:spPr>
          <a:xfrm>
            <a:off x="5577840" y="3291840"/>
            <a:ext cx="2926080" cy="292608"/>
          </a:xfrm>
          <a:prstGeom prst="rect">
            <a:avLst/>
          </a:prstGeom>
          <a:noFill/>
          <a:ln/>
        </p:spPr>
        <p:txBody>
          <a:bodyPr wrap="square" lIns="0" tIns="0" rIns="0" bIns="0" rtlCol="0" anchor="ctr"/>
          <a:lstStyle/>
          <a:p>
            <a:pPr marL="0" indent="0">
              <a:buNone/>
            </a:pPr>
            <a:r>
              <a:rPr lang="en-US" sz="1200" b="1" dirty="0">
                <a:solidFill>
                  <a:srgbClr val="FFD700"/>
                </a:solidFill>
                <a:latin typeface="Calibri" pitchFamily="34" charset="0"/>
                <a:ea typeface="Calibri" pitchFamily="34" charset="-122"/>
                <a:cs typeface="Calibri" pitchFamily="34" charset="-120"/>
              </a:rPr>
              <a:t>LLM-BASED ITS — Bounded MKO</a:t>
            </a:r>
            <a:endParaRPr lang="en-US" sz="1200" dirty="0"/>
          </a:p>
        </p:txBody>
      </p:sp>
      <p:sp>
        <p:nvSpPr>
          <p:cNvPr id="20" name="Text 18"/>
          <p:cNvSpPr/>
          <p:nvPr/>
        </p:nvSpPr>
        <p:spPr>
          <a:xfrm>
            <a:off x="5577840" y="3611880"/>
            <a:ext cx="2926080" cy="1005840"/>
          </a:xfrm>
          <a:prstGeom prst="rect">
            <a:avLst/>
          </a:prstGeom>
          <a:noFill/>
          <a:ln/>
        </p:spPr>
        <p:txBody>
          <a:bodyPr wrap="square" lIns="0" tIns="0" rIns="0" bIns="0" rtlCol="0" anchor="ctr"/>
          <a:lstStyle/>
          <a:p>
            <a:pPr marL="0" indent="0">
              <a:buNone/>
            </a:pPr>
            <a:r>
              <a:rPr lang="en-US" sz="1000" dirty="0">
                <a:solidFill>
                  <a:srgbClr val="E3E2DE"/>
                </a:solidFill>
                <a:latin typeface="Calibri" pitchFamily="34" charset="0"/>
                <a:ea typeface="Calibri" pitchFamily="34" charset="-122"/>
                <a:cs typeface="Calibri" pitchFamily="34" charset="-120"/>
              </a:rPr>
              <a:t>Interprets the response, applies the SEE-I rubric, identifies what's unmet, and gates progression — without giving the completed answer.</a:t>
            </a:r>
            <a:endParaRPr lang="en-US" sz="1000" dirty="0"/>
          </a:p>
        </p:txBody>
      </p:sp>
      <p:sp>
        <p:nvSpPr>
          <p:cNvPr id="21" name="Shape 19"/>
          <p:cNvSpPr/>
          <p:nvPr/>
        </p:nvSpPr>
        <p:spPr>
          <a:xfrm>
            <a:off x="457200" y="3154680"/>
            <a:ext cx="4709160" cy="1508760"/>
          </a:xfrm>
          <a:prstGeom prst="roundRect">
            <a:avLst>
              <a:gd name="adj" fmla="val 3636"/>
            </a:avLst>
          </a:prstGeom>
          <a:solidFill>
            <a:srgbClr val="FFFFFF"/>
          </a:solidFill>
          <a:ln w="12700">
            <a:solidFill>
              <a:srgbClr val="FFFFFF"/>
            </a:solidFill>
            <a:prstDash val="solid"/>
          </a:ln>
          <a:effectLst>
            <a:outerShdw blurRad="76200" dist="25400" dir="2700000" algn="bl" rotWithShape="0">
              <a:srgbClr val="000000">
                <a:alpha val="12000"/>
              </a:srgbClr>
            </a:outerShdw>
          </a:effectLst>
        </p:spPr>
        <p:txBody>
          <a:bodyPr/>
          <a:lstStyle/>
          <a:p>
            <a:endParaRPr lang="en-US"/>
          </a:p>
        </p:txBody>
      </p:sp>
      <p:sp>
        <p:nvSpPr>
          <p:cNvPr id="22" name="Text 20"/>
          <p:cNvSpPr/>
          <p:nvPr/>
        </p:nvSpPr>
        <p:spPr>
          <a:xfrm>
            <a:off x="640080" y="3291840"/>
            <a:ext cx="4434840" cy="1280160"/>
          </a:xfrm>
          <a:prstGeom prst="rect">
            <a:avLst/>
          </a:prstGeom>
          <a:noFill/>
          <a:ln/>
        </p:spPr>
        <p:txBody>
          <a:bodyPr wrap="square" lIns="0" tIns="0" rIns="0" bIns="0" rtlCol="0" anchor="ctr"/>
          <a:lstStyle/>
          <a:p>
            <a:pPr marL="0" indent="0">
              <a:buNone/>
            </a:pPr>
            <a:r>
              <a:rPr lang="en-US" sz="1100" b="1" dirty="0">
                <a:solidFill>
                  <a:srgbClr val="1E4028"/>
                </a:solidFill>
                <a:latin typeface="Calibri" pitchFamily="34" charset="0"/>
                <a:ea typeface="Calibri" pitchFamily="34" charset="-122"/>
                <a:cs typeface="Calibri" pitchFamily="34" charset="-120"/>
              </a:rPr>
              <a:t>Constructivism </a:t>
            </a:r>
            <a:r>
              <a:rPr lang="en-US" sz="1100" dirty="0">
                <a:solidFill>
                  <a:srgbClr val="1A1A1A"/>
                </a:solidFill>
                <a:latin typeface="Calibri" pitchFamily="34" charset="0"/>
                <a:ea typeface="Calibri" pitchFamily="34" charset="-122"/>
                <a:cs typeface="Calibri" pitchFamily="34" charset="-120"/>
              </a:rPr>
              <a:t>is preserved — the learner produces and revises the response.</a:t>
            </a:r>
            <a:endParaRPr lang="en-US" sz="1100" dirty="0"/>
          </a:p>
          <a:p>
            <a:pPr marL="0" indent="0">
              <a:buNone/>
            </a:pPr>
            <a:r>
              <a:rPr lang="en-US" sz="1100" b="1" dirty="0">
                <a:solidFill>
                  <a:srgbClr val="1E4028"/>
                </a:solidFill>
                <a:latin typeface="Calibri" pitchFamily="34" charset="0"/>
                <a:ea typeface="Calibri" pitchFamily="34" charset="-122"/>
                <a:cs typeface="Calibri" pitchFamily="34" charset="-120"/>
              </a:rPr>
              <a:t>ZPD </a:t>
            </a:r>
            <a:r>
              <a:rPr lang="en-US" sz="1100" dirty="0">
                <a:solidFill>
                  <a:srgbClr val="1A1A1A"/>
                </a:solidFill>
                <a:latin typeface="Calibri" pitchFamily="34" charset="0"/>
                <a:ea typeface="Calibri" pitchFamily="34" charset="-122"/>
                <a:cs typeface="Calibri" pitchFamily="34" charset="-120"/>
              </a:rPr>
              <a:t>is made observable through each SEE-I stage.</a:t>
            </a:r>
            <a:endParaRPr lang="en-US" sz="1100" dirty="0"/>
          </a:p>
          <a:p>
            <a:pPr marL="0" indent="0">
              <a:buNone/>
            </a:pPr>
            <a:r>
              <a:rPr lang="en-US" sz="1100" b="1" dirty="0">
                <a:solidFill>
                  <a:srgbClr val="1E4028"/>
                </a:solidFill>
                <a:latin typeface="Calibri" pitchFamily="34" charset="0"/>
                <a:ea typeface="Calibri" pitchFamily="34" charset="-122"/>
                <a:cs typeface="Calibri" pitchFamily="34" charset="-120"/>
              </a:rPr>
              <a:t>Scaffolding </a:t>
            </a:r>
            <a:r>
              <a:rPr lang="en-US" sz="1100" dirty="0">
                <a:solidFill>
                  <a:srgbClr val="1A1A1A"/>
                </a:solidFill>
                <a:latin typeface="Calibri" pitchFamily="34" charset="0"/>
                <a:ea typeface="Calibri" pitchFamily="34" charset="-122"/>
                <a:cs typeface="Calibri" pitchFamily="34" charset="-120"/>
              </a:rPr>
              <a:t>is enacted through rubric-based feedback that never gives the completed answer.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3E2DE"/>
        </a:solidFill>
        <a:effectLst/>
      </p:bgPr>
    </p:bg>
    <p:spTree>
      <p:nvGrpSpPr>
        <p:cNvPr id="1" name=""/>
        <p:cNvGrpSpPr/>
        <p:nvPr/>
      </p:nvGrpSpPr>
      <p:grpSpPr>
        <a:xfrm>
          <a:off x="0" y="0"/>
          <a:ext cx="0" cy="0"/>
          <a:chOff x="0" y="0"/>
          <a:chExt cx="0" cy="0"/>
        </a:xfrm>
      </p:grpSpPr>
      <p:sp>
        <p:nvSpPr>
          <p:cNvPr id="2" name="Text 0"/>
          <p:cNvSpPr/>
          <p:nvPr/>
        </p:nvSpPr>
        <p:spPr>
          <a:xfrm>
            <a:off x="457200" y="256032"/>
            <a:ext cx="6400800" cy="274320"/>
          </a:xfrm>
          <a:prstGeom prst="rect">
            <a:avLst/>
          </a:prstGeom>
          <a:noFill/>
          <a:ln/>
        </p:spPr>
        <p:txBody>
          <a:bodyPr wrap="square" lIns="0" tIns="0" rIns="0" bIns="0" rtlCol="0" anchor="ctr"/>
          <a:lstStyle/>
          <a:p>
            <a:pPr marL="0" indent="0">
              <a:buNone/>
            </a:pPr>
            <a:r>
              <a:rPr lang="en-US" sz="1100" b="1" kern="0" spc="200" dirty="0">
                <a:solidFill>
                  <a:srgbClr val="2E5E3B"/>
                </a:solidFill>
                <a:latin typeface="Calibri" pitchFamily="34" charset="0"/>
                <a:ea typeface="Calibri" pitchFamily="34" charset="-122"/>
                <a:cs typeface="Calibri" pitchFamily="34" charset="-120"/>
              </a:rPr>
              <a:t>THE RUBRIC (V3)</a:t>
            </a:r>
            <a:endParaRPr lang="en-US" sz="1100" dirty="0"/>
          </a:p>
        </p:txBody>
      </p:sp>
      <p:sp>
        <p:nvSpPr>
          <p:cNvPr id="3" name="Text 1"/>
          <p:cNvSpPr/>
          <p:nvPr/>
        </p:nvSpPr>
        <p:spPr>
          <a:xfrm>
            <a:off x="457200" y="502920"/>
            <a:ext cx="8229600" cy="548640"/>
          </a:xfrm>
          <a:prstGeom prst="rect">
            <a:avLst/>
          </a:prstGeom>
          <a:noFill/>
          <a:ln/>
        </p:spPr>
        <p:txBody>
          <a:bodyPr wrap="square" lIns="0" tIns="0" rIns="0" bIns="0" rtlCol="0" anchor="ctr"/>
          <a:lstStyle/>
          <a:p>
            <a:pPr marL="0" indent="0">
              <a:buNone/>
            </a:pPr>
            <a:r>
              <a:rPr lang="en-US" sz="2600" b="1" dirty="0">
                <a:solidFill>
                  <a:srgbClr val="1E4028"/>
                </a:solidFill>
                <a:latin typeface="Cambria" pitchFamily="34" charset="0"/>
                <a:ea typeface="Cambria" pitchFamily="34" charset="-122"/>
                <a:cs typeface="Cambria" pitchFamily="34" charset="-120"/>
              </a:rPr>
              <a:t>State — Criteria</a:t>
            </a:r>
            <a:endParaRPr lang="en-US" sz="2600" dirty="0"/>
          </a:p>
        </p:txBody>
      </p:sp>
      <p:sp>
        <p:nvSpPr>
          <p:cNvPr id="4" name="Text 2"/>
          <p:cNvSpPr/>
          <p:nvPr/>
        </p:nvSpPr>
        <p:spPr>
          <a:xfrm>
            <a:off x="8732520" y="4846320"/>
            <a:ext cx="365760" cy="256032"/>
          </a:xfrm>
          <a:prstGeom prst="rect">
            <a:avLst/>
          </a:prstGeom>
          <a:noFill/>
          <a:ln/>
        </p:spPr>
        <p:txBody>
          <a:bodyPr wrap="square" lIns="0" tIns="0" rIns="0" bIns="0" rtlCol="0" anchor="ctr"/>
          <a:lstStyle/>
          <a:p>
            <a:pPr marL="0" indent="0" algn="r">
              <a:buNone/>
            </a:pPr>
            <a:r>
              <a:rPr lang="en-US" sz="1000" dirty="0">
                <a:solidFill>
                  <a:srgbClr val="5B6B60"/>
                </a:solidFill>
                <a:latin typeface="Calibri" pitchFamily="34" charset="0"/>
                <a:ea typeface="Calibri" pitchFamily="34" charset="-122"/>
                <a:cs typeface="Calibri" pitchFamily="34" charset="-120"/>
              </a:rPr>
              <a:t>4</a:t>
            </a:r>
            <a:endParaRPr lang="en-US" sz="1000" dirty="0"/>
          </a:p>
        </p:txBody>
      </p:sp>
      <p:sp>
        <p:nvSpPr>
          <p:cNvPr id="5" name="Shape 3"/>
          <p:cNvSpPr/>
          <p:nvPr/>
        </p:nvSpPr>
        <p:spPr>
          <a:xfrm>
            <a:off x="7818120" y="457200"/>
            <a:ext cx="457200" cy="457200"/>
          </a:xfrm>
          <a:prstGeom prst="ellipse">
            <a:avLst/>
          </a:prstGeom>
          <a:solidFill>
            <a:srgbClr val="2E5E3B"/>
          </a:solidFill>
          <a:ln w="12700">
            <a:solidFill>
              <a:srgbClr val="2E5E3B"/>
            </a:solidFill>
            <a:prstDash val="solid"/>
          </a:ln>
        </p:spPr>
        <p:txBody>
          <a:bodyPr/>
          <a:lstStyle/>
          <a:p>
            <a:endParaRPr lang="en-US"/>
          </a:p>
        </p:txBody>
      </p:sp>
      <p:sp>
        <p:nvSpPr>
          <p:cNvPr id="6" name="Text 4"/>
          <p:cNvSpPr/>
          <p:nvPr/>
        </p:nvSpPr>
        <p:spPr>
          <a:xfrm>
            <a:off x="7818120" y="457200"/>
            <a:ext cx="457200" cy="457200"/>
          </a:xfrm>
          <a:prstGeom prst="rect">
            <a:avLst/>
          </a:prstGeom>
          <a:noFill/>
          <a:ln/>
        </p:spPr>
        <p:txBody>
          <a:bodyPr wrap="square" lIns="0" tIns="0" rIns="0" bIns="0" rtlCol="0" anchor="ctr"/>
          <a:lstStyle/>
          <a:p>
            <a:pPr marL="0" indent="0" algn="ctr">
              <a:buNone/>
            </a:pPr>
            <a:r>
              <a:rPr lang="en-US" sz="2200" b="1" dirty="0">
                <a:solidFill>
                  <a:srgbClr val="FFD700"/>
                </a:solidFill>
                <a:latin typeface="Calibri" pitchFamily="34" charset="0"/>
                <a:ea typeface="Calibri" pitchFamily="34" charset="-122"/>
                <a:cs typeface="Calibri" pitchFamily="34" charset="-120"/>
              </a:rPr>
              <a:t>S</a:t>
            </a:r>
            <a:endParaRPr lang="en-US" sz="2200" dirty="0"/>
          </a:p>
        </p:txBody>
      </p:sp>
      <p:sp>
        <p:nvSpPr>
          <p:cNvPr id="7" name="Shape 5"/>
          <p:cNvSpPr/>
          <p:nvPr/>
        </p:nvSpPr>
        <p:spPr>
          <a:xfrm>
            <a:off x="457200" y="1188720"/>
            <a:ext cx="8229600" cy="612648"/>
          </a:xfrm>
          <a:prstGeom prst="roundRect">
            <a:avLst>
              <a:gd name="adj" fmla="val 8955"/>
            </a:avLst>
          </a:prstGeom>
          <a:solidFill>
            <a:srgbClr val="FFFFFF"/>
          </a:solidFill>
          <a:ln w="12700">
            <a:solidFill>
              <a:srgbClr val="FFFFFF"/>
            </a:solidFill>
            <a:prstDash val="solid"/>
          </a:ln>
        </p:spPr>
        <p:txBody>
          <a:bodyPr/>
          <a:lstStyle/>
          <a:p>
            <a:endParaRPr lang="en-US"/>
          </a:p>
        </p:txBody>
      </p:sp>
      <p:sp>
        <p:nvSpPr>
          <p:cNvPr id="8" name="Shape 6"/>
          <p:cNvSpPr/>
          <p:nvPr/>
        </p:nvSpPr>
        <p:spPr>
          <a:xfrm>
            <a:off x="457200" y="1188720"/>
            <a:ext cx="1691640" cy="612648"/>
          </a:xfrm>
          <a:prstGeom prst="roundRect">
            <a:avLst>
              <a:gd name="adj" fmla="val 8955"/>
            </a:avLst>
          </a:prstGeom>
          <a:solidFill>
            <a:srgbClr val="2E5E3B"/>
          </a:solidFill>
          <a:ln w="12700">
            <a:solidFill>
              <a:srgbClr val="FFFFFF"/>
            </a:solidFill>
            <a:prstDash val="solid"/>
          </a:ln>
        </p:spPr>
        <p:txBody>
          <a:bodyPr/>
          <a:lstStyle/>
          <a:p>
            <a:endParaRPr lang="en-US"/>
          </a:p>
        </p:txBody>
      </p:sp>
      <p:sp>
        <p:nvSpPr>
          <p:cNvPr id="9" name="Text 7"/>
          <p:cNvSpPr/>
          <p:nvPr/>
        </p:nvSpPr>
        <p:spPr>
          <a:xfrm>
            <a:off x="548640" y="1188720"/>
            <a:ext cx="1508760" cy="612648"/>
          </a:xfrm>
          <a:prstGeom prst="rect">
            <a:avLst/>
          </a:prstGeom>
          <a:noFill/>
          <a:ln/>
        </p:spPr>
        <p:txBody>
          <a:bodyPr wrap="square" lIns="0" tIns="0" rIns="0" bIns="0" rtlCol="0" anchor="ctr"/>
          <a:lstStyle/>
          <a:p>
            <a:pPr marL="0" indent="0">
              <a:buNone/>
            </a:pPr>
            <a:r>
              <a:rPr lang="en-US" sz="1250" b="1" dirty="0">
                <a:solidFill>
                  <a:srgbClr val="FFD700"/>
                </a:solidFill>
                <a:latin typeface="Calibri" pitchFamily="34" charset="0"/>
                <a:ea typeface="Calibri" pitchFamily="34" charset="-122"/>
                <a:cs typeface="Calibri" pitchFamily="34" charset="-120"/>
              </a:rPr>
              <a:t>Brevity</a:t>
            </a:r>
            <a:endParaRPr lang="en-US" sz="1250" dirty="0"/>
          </a:p>
        </p:txBody>
      </p:sp>
      <p:sp>
        <p:nvSpPr>
          <p:cNvPr id="10" name="Text 8"/>
          <p:cNvSpPr/>
          <p:nvPr/>
        </p:nvSpPr>
        <p:spPr>
          <a:xfrm>
            <a:off x="2331720" y="1188720"/>
            <a:ext cx="6172200" cy="612648"/>
          </a:xfrm>
          <a:prstGeom prst="rect">
            <a:avLst/>
          </a:prstGeom>
          <a:noFill/>
          <a:ln/>
        </p:spPr>
        <p:txBody>
          <a:bodyPr wrap="square" lIns="0" tIns="0" rIns="0" bIns="0" rtlCol="0" anchor="ctr"/>
          <a:lstStyle/>
          <a:p>
            <a:pPr marL="0" indent="0">
              <a:buNone/>
            </a:pPr>
            <a:r>
              <a:rPr lang="en-US" sz="1030" dirty="0">
                <a:solidFill>
                  <a:srgbClr val="1A1A1A"/>
                </a:solidFill>
                <a:latin typeface="Calibri" pitchFamily="34" charset="0"/>
                <a:ea typeface="Calibri" pitchFamily="34" charset="-122"/>
                <a:cs typeface="Calibri" pitchFamily="34" charset="-120"/>
              </a:rPr>
              <a:t>The statement is concise and straight to the point. It does not contain any unnecessary filler, repetition, or tangents.</a:t>
            </a:r>
            <a:endParaRPr lang="en-US" sz="1030" dirty="0"/>
          </a:p>
        </p:txBody>
      </p:sp>
      <p:sp>
        <p:nvSpPr>
          <p:cNvPr id="11" name="Shape 9"/>
          <p:cNvSpPr/>
          <p:nvPr/>
        </p:nvSpPr>
        <p:spPr>
          <a:xfrm>
            <a:off x="457200" y="1892808"/>
            <a:ext cx="8229600" cy="612648"/>
          </a:xfrm>
          <a:prstGeom prst="roundRect">
            <a:avLst>
              <a:gd name="adj" fmla="val 8955"/>
            </a:avLst>
          </a:prstGeom>
          <a:solidFill>
            <a:srgbClr val="FFFFFF"/>
          </a:solidFill>
          <a:ln w="12700">
            <a:solidFill>
              <a:srgbClr val="FFFFFF"/>
            </a:solidFill>
            <a:prstDash val="solid"/>
          </a:ln>
        </p:spPr>
        <p:txBody>
          <a:bodyPr/>
          <a:lstStyle/>
          <a:p>
            <a:endParaRPr lang="en-US"/>
          </a:p>
        </p:txBody>
      </p:sp>
      <p:sp>
        <p:nvSpPr>
          <p:cNvPr id="12" name="Shape 10"/>
          <p:cNvSpPr/>
          <p:nvPr/>
        </p:nvSpPr>
        <p:spPr>
          <a:xfrm>
            <a:off x="457200" y="1892808"/>
            <a:ext cx="1691640" cy="612648"/>
          </a:xfrm>
          <a:prstGeom prst="roundRect">
            <a:avLst>
              <a:gd name="adj" fmla="val 8955"/>
            </a:avLst>
          </a:prstGeom>
          <a:solidFill>
            <a:srgbClr val="2E5E3B"/>
          </a:solidFill>
          <a:ln w="12700">
            <a:solidFill>
              <a:srgbClr val="FFFFFF"/>
            </a:solidFill>
            <a:prstDash val="solid"/>
          </a:ln>
        </p:spPr>
        <p:txBody>
          <a:bodyPr/>
          <a:lstStyle/>
          <a:p>
            <a:endParaRPr lang="en-US"/>
          </a:p>
        </p:txBody>
      </p:sp>
      <p:sp>
        <p:nvSpPr>
          <p:cNvPr id="13" name="Text 11"/>
          <p:cNvSpPr/>
          <p:nvPr/>
        </p:nvSpPr>
        <p:spPr>
          <a:xfrm>
            <a:off x="548640" y="1892808"/>
            <a:ext cx="1508760" cy="612648"/>
          </a:xfrm>
          <a:prstGeom prst="rect">
            <a:avLst/>
          </a:prstGeom>
          <a:noFill/>
          <a:ln/>
        </p:spPr>
        <p:txBody>
          <a:bodyPr wrap="square" lIns="0" tIns="0" rIns="0" bIns="0" rtlCol="0" anchor="ctr"/>
          <a:lstStyle/>
          <a:p>
            <a:pPr marL="0" indent="0">
              <a:buNone/>
            </a:pPr>
            <a:r>
              <a:rPr lang="en-US" sz="1250" b="1" dirty="0">
                <a:solidFill>
                  <a:srgbClr val="FFD700"/>
                </a:solidFill>
                <a:latin typeface="Calibri" pitchFamily="34" charset="0"/>
                <a:ea typeface="Calibri" pitchFamily="34" charset="-122"/>
                <a:cs typeface="Calibri" pitchFamily="34" charset="-120"/>
              </a:rPr>
              <a:t>Own Words</a:t>
            </a:r>
            <a:endParaRPr lang="en-US" sz="1250" dirty="0"/>
          </a:p>
        </p:txBody>
      </p:sp>
      <p:sp>
        <p:nvSpPr>
          <p:cNvPr id="14" name="Text 12"/>
          <p:cNvSpPr/>
          <p:nvPr/>
        </p:nvSpPr>
        <p:spPr>
          <a:xfrm>
            <a:off x="2331720" y="1892808"/>
            <a:ext cx="6172200" cy="612648"/>
          </a:xfrm>
          <a:prstGeom prst="rect">
            <a:avLst/>
          </a:prstGeom>
          <a:noFill/>
          <a:ln/>
        </p:spPr>
        <p:txBody>
          <a:bodyPr wrap="square" lIns="0" tIns="0" rIns="0" bIns="0" rtlCol="0" anchor="ctr"/>
          <a:lstStyle/>
          <a:p>
            <a:pPr marL="0" indent="0">
              <a:buNone/>
            </a:pPr>
            <a:r>
              <a:rPr lang="en-US" sz="1030" dirty="0">
                <a:solidFill>
                  <a:srgbClr val="1A1A1A"/>
                </a:solidFill>
                <a:latin typeface="Calibri" pitchFamily="34" charset="0"/>
                <a:ea typeface="Calibri" pitchFamily="34" charset="-122"/>
                <a:cs typeface="Calibri" pitchFamily="34" charset="-120"/>
              </a:rPr>
              <a:t>The statement is the user's own definition of the concept, in their own words. It is not directly copied or closely paraphrasing the text from the reading.</a:t>
            </a:r>
            <a:endParaRPr lang="en-US" sz="1030" dirty="0"/>
          </a:p>
        </p:txBody>
      </p:sp>
      <p:sp>
        <p:nvSpPr>
          <p:cNvPr id="15" name="Shape 13"/>
          <p:cNvSpPr/>
          <p:nvPr/>
        </p:nvSpPr>
        <p:spPr>
          <a:xfrm>
            <a:off x="457200" y="2596896"/>
            <a:ext cx="8229600" cy="612648"/>
          </a:xfrm>
          <a:prstGeom prst="roundRect">
            <a:avLst>
              <a:gd name="adj" fmla="val 8955"/>
            </a:avLst>
          </a:prstGeom>
          <a:solidFill>
            <a:srgbClr val="FFFFFF"/>
          </a:solidFill>
          <a:ln w="12700">
            <a:solidFill>
              <a:srgbClr val="FFFFFF"/>
            </a:solidFill>
            <a:prstDash val="solid"/>
          </a:ln>
        </p:spPr>
        <p:txBody>
          <a:bodyPr/>
          <a:lstStyle/>
          <a:p>
            <a:endParaRPr lang="en-US"/>
          </a:p>
        </p:txBody>
      </p:sp>
      <p:sp>
        <p:nvSpPr>
          <p:cNvPr id="16" name="Shape 14"/>
          <p:cNvSpPr/>
          <p:nvPr/>
        </p:nvSpPr>
        <p:spPr>
          <a:xfrm>
            <a:off x="457200" y="2596896"/>
            <a:ext cx="1691640" cy="612648"/>
          </a:xfrm>
          <a:prstGeom prst="roundRect">
            <a:avLst>
              <a:gd name="adj" fmla="val 8955"/>
            </a:avLst>
          </a:prstGeom>
          <a:solidFill>
            <a:srgbClr val="2E5E3B"/>
          </a:solidFill>
          <a:ln w="12700">
            <a:solidFill>
              <a:srgbClr val="FFFFFF"/>
            </a:solidFill>
            <a:prstDash val="solid"/>
          </a:ln>
        </p:spPr>
        <p:txBody>
          <a:bodyPr/>
          <a:lstStyle/>
          <a:p>
            <a:endParaRPr lang="en-US"/>
          </a:p>
        </p:txBody>
      </p:sp>
      <p:sp>
        <p:nvSpPr>
          <p:cNvPr id="17" name="Text 15"/>
          <p:cNvSpPr/>
          <p:nvPr/>
        </p:nvSpPr>
        <p:spPr>
          <a:xfrm>
            <a:off x="548640" y="2596896"/>
            <a:ext cx="1508760" cy="612648"/>
          </a:xfrm>
          <a:prstGeom prst="rect">
            <a:avLst/>
          </a:prstGeom>
          <a:noFill/>
          <a:ln/>
        </p:spPr>
        <p:txBody>
          <a:bodyPr wrap="square" lIns="0" tIns="0" rIns="0" bIns="0" rtlCol="0" anchor="ctr"/>
          <a:lstStyle/>
          <a:p>
            <a:pPr marL="0" indent="0">
              <a:buNone/>
            </a:pPr>
            <a:r>
              <a:rPr lang="en-US" sz="1250" b="1" dirty="0">
                <a:solidFill>
                  <a:srgbClr val="FFD700"/>
                </a:solidFill>
                <a:latin typeface="Calibri" pitchFamily="34" charset="0"/>
                <a:ea typeface="Calibri" pitchFamily="34" charset="-122"/>
                <a:cs typeface="Calibri" pitchFamily="34" charset="-120"/>
              </a:rPr>
              <a:t>Clarity</a:t>
            </a:r>
            <a:endParaRPr lang="en-US" sz="1250" dirty="0"/>
          </a:p>
        </p:txBody>
      </p:sp>
      <p:sp>
        <p:nvSpPr>
          <p:cNvPr id="18" name="Text 16"/>
          <p:cNvSpPr/>
          <p:nvPr/>
        </p:nvSpPr>
        <p:spPr>
          <a:xfrm>
            <a:off x="2331720" y="2596896"/>
            <a:ext cx="6172200" cy="612648"/>
          </a:xfrm>
          <a:prstGeom prst="rect">
            <a:avLst/>
          </a:prstGeom>
          <a:noFill/>
          <a:ln/>
        </p:spPr>
        <p:txBody>
          <a:bodyPr wrap="square" lIns="0" tIns="0" rIns="0" bIns="0" rtlCol="0" anchor="ctr"/>
          <a:lstStyle/>
          <a:p>
            <a:pPr marL="0" indent="0">
              <a:buNone/>
            </a:pPr>
            <a:r>
              <a:rPr lang="en-US" sz="1030" dirty="0">
                <a:solidFill>
                  <a:srgbClr val="1A1A1A"/>
                </a:solidFill>
                <a:latin typeface="Calibri" pitchFamily="34" charset="0"/>
                <a:ea typeface="Calibri" pitchFamily="34" charset="-122"/>
                <a:cs typeface="Calibri" pitchFamily="34" charset="-120"/>
              </a:rPr>
              <a:t>The statement is clear and precise. It is well-formulated and not vague.</a:t>
            </a:r>
            <a:endParaRPr lang="en-US" sz="1030" dirty="0"/>
          </a:p>
        </p:txBody>
      </p:sp>
      <p:sp>
        <p:nvSpPr>
          <p:cNvPr id="19" name="Shape 17"/>
          <p:cNvSpPr/>
          <p:nvPr/>
        </p:nvSpPr>
        <p:spPr>
          <a:xfrm>
            <a:off x="457200" y="3300984"/>
            <a:ext cx="8229600" cy="612648"/>
          </a:xfrm>
          <a:prstGeom prst="roundRect">
            <a:avLst>
              <a:gd name="adj" fmla="val 8955"/>
            </a:avLst>
          </a:prstGeom>
          <a:solidFill>
            <a:srgbClr val="FFFFFF"/>
          </a:solidFill>
          <a:ln w="12700">
            <a:solidFill>
              <a:srgbClr val="FFFFFF"/>
            </a:solidFill>
            <a:prstDash val="solid"/>
          </a:ln>
        </p:spPr>
        <p:txBody>
          <a:bodyPr/>
          <a:lstStyle/>
          <a:p>
            <a:endParaRPr lang="en-US"/>
          </a:p>
        </p:txBody>
      </p:sp>
      <p:sp>
        <p:nvSpPr>
          <p:cNvPr id="20" name="Shape 18"/>
          <p:cNvSpPr/>
          <p:nvPr/>
        </p:nvSpPr>
        <p:spPr>
          <a:xfrm>
            <a:off x="457200" y="3300984"/>
            <a:ext cx="1691640" cy="612648"/>
          </a:xfrm>
          <a:prstGeom prst="roundRect">
            <a:avLst>
              <a:gd name="adj" fmla="val 8955"/>
            </a:avLst>
          </a:prstGeom>
          <a:solidFill>
            <a:srgbClr val="2E5E3B"/>
          </a:solidFill>
          <a:ln w="12700">
            <a:solidFill>
              <a:srgbClr val="FFFFFF"/>
            </a:solidFill>
            <a:prstDash val="solid"/>
          </a:ln>
        </p:spPr>
        <p:txBody>
          <a:bodyPr/>
          <a:lstStyle/>
          <a:p>
            <a:endParaRPr lang="en-US"/>
          </a:p>
        </p:txBody>
      </p:sp>
      <p:sp>
        <p:nvSpPr>
          <p:cNvPr id="21" name="Text 19"/>
          <p:cNvSpPr/>
          <p:nvPr/>
        </p:nvSpPr>
        <p:spPr>
          <a:xfrm>
            <a:off x="548640" y="3300984"/>
            <a:ext cx="1508760" cy="612648"/>
          </a:xfrm>
          <a:prstGeom prst="rect">
            <a:avLst/>
          </a:prstGeom>
          <a:noFill/>
          <a:ln/>
        </p:spPr>
        <p:txBody>
          <a:bodyPr wrap="square" lIns="0" tIns="0" rIns="0" bIns="0" rtlCol="0" anchor="ctr"/>
          <a:lstStyle/>
          <a:p>
            <a:pPr marL="0" indent="0">
              <a:buNone/>
            </a:pPr>
            <a:r>
              <a:rPr lang="en-US" sz="1250" b="1" dirty="0">
                <a:solidFill>
                  <a:srgbClr val="FFD700"/>
                </a:solidFill>
                <a:latin typeface="Calibri" pitchFamily="34" charset="0"/>
                <a:ea typeface="Calibri" pitchFamily="34" charset="-122"/>
                <a:cs typeface="Calibri" pitchFamily="34" charset="-120"/>
              </a:rPr>
              <a:t>Completeness</a:t>
            </a:r>
            <a:endParaRPr lang="en-US" sz="1250" dirty="0"/>
          </a:p>
        </p:txBody>
      </p:sp>
      <p:sp>
        <p:nvSpPr>
          <p:cNvPr id="22" name="Text 20"/>
          <p:cNvSpPr/>
          <p:nvPr/>
        </p:nvSpPr>
        <p:spPr>
          <a:xfrm>
            <a:off x="2331720" y="3300984"/>
            <a:ext cx="6172200" cy="612648"/>
          </a:xfrm>
          <a:prstGeom prst="rect">
            <a:avLst/>
          </a:prstGeom>
          <a:noFill/>
          <a:ln/>
        </p:spPr>
        <p:txBody>
          <a:bodyPr wrap="square" lIns="0" tIns="0" rIns="0" bIns="0" rtlCol="0" anchor="ctr"/>
          <a:lstStyle/>
          <a:p>
            <a:pPr marL="0" indent="0">
              <a:buNone/>
            </a:pPr>
            <a:r>
              <a:rPr lang="en-US" sz="1030" dirty="0">
                <a:solidFill>
                  <a:srgbClr val="1A1A1A"/>
                </a:solidFill>
                <a:latin typeface="Calibri" pitchFamily="34" charset="0"/>
                <a:ea typeface="Calibri" pitchFamily="34" charset="-122"/>
                <a:cs typeface="Calibri" pitchFamily="34" charset="-120"/>
              </a:rPr>
              <a:t>The statement captures the concept's essential core component/s, not just one facet (if multiple).</a:t>
            </a:r>
            <a:endParaRPr lang="en-US" sz="1030" dirty="0"/>
          </a:p>
        </p:txBody>
      </p:sp>
      <p:sp>
        <p:nvSpPr>
          <p:cNvPr id="23" name="Shape 21"/>
          <p:cNvSpPr/>
          <p:nvPr/>
        </p:nvSpPr>
        <p:spPr>
          <a:xfrm>
            <a:off x="457200" y="4005072"/>
            <a:ext cx="8229600" cy="612648"/>
          </a:xfrm>
          <a:prstGeom prst="roundRect">
            <a:avLst>
              <a:gd name="adj" fmla="val 8955"/>
            </a:avLst>
          </a:prstGeom>
          <a:solidFill>
            <a:srgbClr val="FFFFFF"/>
          </a:solidFill>
          <a:ln w="12700">
            <a:solidFill>
              <a:srgbClr val="FFFFFF"/>
            </a:solidFill>
            <a:prstDash val="solid"/>
          </a:ln>
        </p:spPr>
        <p:txBody>
          <a:bodyPr/>
          <a:lstStyle/>
          <a:p>
            <a:endParaRPr lang="en-US"/>
          </a:p>
        </p:txBody>
      </p:sp>
      <p:sp>
        <p:nvSpPr>
          <p:cNvPr id="24" name="Shape 22"/>
          <p:cNvSpPr/>
          <p:nvPr/>
        </p:nvSpPr>
        <p:spPr>
          <a:xfrm>
            <a:off x="457200" y="4005072"/>
            <a:ext cx="1691640" cy="612648"/>
          </a:xfrm>
          <a:prstGeom prst="roundRect">
            <a:avLst>
              <a:gd name="adj" fmla="val 8955"/>
            </a:avLst>
          </a:prstGeom>
          <a:solidFill>
            <a:srgbClr val="2E5E3B"/>
          </a:solidFill>
          <a:ln w="12700">
            <a:solidFill>
              <a:srgbClr val="FFFFFF"/>
            </a:solidFill>
            <a:prstDash val="solid"/>
          </a:ln>
        </p:spPr>
        <p:txBody>
          <a:bodyPr/>
          <a:lstStyle/>
          <a:p>
            <a:endParaRPr lang="en-US"/>
          </a:p>
        </p:txBody>
      </p:sp>
      <p:sp>
        <p:nvSpPr>
          <p:cNvPr id="25" name="Text 23"/>
          <p:cNvSpPr/>
          <p:nvPr/>
        </p:nvSpPr>
        <p:spPr>
          <a:xfrm>
            <a:off x="548640" y="4005072"/>
            <a:ext cx="1508760" cy="612648"/>
          </a:xfrm>
          <a:prstGeom prst="rect">
            <a:avLst/>
          </a:prstGeom>
          <a:noFill/>
          <a:ln/>
        </p:spPr>
        <p:txBody>
          <a:bodyPr wrap="square" lIns="0" tIns="0" rIns="0" bIns="0" rtlCol="0" anchor="ctr"/>
          <a:lstStyle/>
          <a:p>
            <a:pPr marL="0" indent="0">
              <a:buNone/>
            </a:pPr>
            <a:r>
              <a:rPr lang="en-US" sz="1250" b="1" dirty="0">
                <a:solidFill>
                  <a:srgbClr val="FFD700"/>
                </a:solidFill>
                <a:latin typeface="Calibri" pitchFamily="34" charset="0"/>
                <a:ea typeface="Calibri" pitchFamily="34" charset="-122"/>
                <a:cs typeface="Calibri" pitchFamily="34" charset="-120"/>
              </a:rPr>
              <a:t>Accuracy</a:t>
            </a:r>
            <a:endParaRPr lang="en-US" sz="1250" dirty="0"/>
          </a:p>
        </p:txBody>
      </p:sp>
      <p:sp>
        <p:nvSpPr>
          <p:cNvPr id="26" name="Text 24"/>
          <p:cNvSpPr/>
          <p:nvPr/>
        </p:nvSpPr>
        <p:spPr>
          <a:xfrm>
            <a:off x="2331720" y="4005072"/>
            <a:ext cx="6172200" cy="612648"/>
          </a:xfrm>
          <a:prstGeom prst="rect">
            <a:avLst/>
          </a:prstGeom>
          <a:noFill/>
          <a:ln/>
        </p:spPr>
        <p:txBody>
          <a:bodyPr wrap="square" lIns="0" tIns="0" rIns="0" bIns="0" rtlCol="0" anchor="ctr"/>
          <a:lstStyle/>
          <a:p>
            <a:pPr marL="0" indent="0">
              <a:buNone/>
            </a:pPr>
            <a:r>
              <a:rPr lang="en-US" sz="1030" dirty="0">
                <a:solidFill>
                  <a:srgbClr val="1A1A1A"/>
                </a:solidFill>
                <a:latin typeface="Calibri" pitchFamily="34" charset="0"/>
                <a:ea typeface="Calibri" pitchFamily="34" charset="-122"/>
                <a:cs typeface="Calibri" pitchFamily="34" charset="-120"/>
              </a:rPr>
              <a:t>The response is faithful to the reading: everything it asserts about the concept is correct and consistent with the source. It does not contradict the reading, misrepresent the concept, or rely on claims the source does not support.</a:t>
            </a:r>
            <a:endParaRPr lang="en-US" sz="103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3E2DE"/>
        </a:solidFill>
        <a:effectLst/>
      </p:bgPr>
    </p:bg>
    <p:spTree>
      <p:nvGrpSpPr>
        <p:cNvPr id="1" name=""/>
        <p:cNvGrpSpPr/>
        <p:nvPr/>
      </p:nvGrpSpPr>
      <p:grpSpPr>
        <a:xfrm>
          <a:off x="0" y="0"/>
          <a:ext cx="0" cy="0"/>
          <a:chOff x="0" y="0"/>
          <a:chExt cx="0" cy="0"/>
        </a:xfrm>
      </p:grpSpPr>
      <p:sp>
        <p:nvSpPr>
          <p:cNvPr id="2" name="Text 0"/>
          <p:cNvSpPr/>
          <p:nvPr/>
        </p:nvSpPr>
        <p:spPr>
          <a:xfrm>
            <a:off x="457200" y="256032"/>
            <a:ext cx="6400800" cy="274320"/>
          </a:xfrm>
          <a:prstGeom prst="rect">
            <a:avLst/>
          </a:prstGeom>
          <a:noFill/>
          <a:ln/>
        </p:spPr>
        <p:txBody>
          <a:bodyPr wrap="square" lIns="0" tIns="0" rIns="0" bIns="0" rtlCol="0" anchor="ctr"/>
          <a:lstStyle/>
          <a:p>
            <a:pPr marL="0" indent="0">
              <a:buNone/>
            </a:pPr>
            <a:r>
              <a:rPr lang="en-US" sz="1100" b="1" kern="0" spc="200" dirty="0">
                <a:solidFill>
                  <a:srgbClr val="2E5E3B"/>
                </a:solidFill>
                <a:latin typeface="Calibri" pitchFamily="34" charset="0"/>
                <a:ea typeface="Calibri" pitchFamily="34" charset="-122"/>
                <a:cs typeface="Calibri" pitchFamily="34" charset="-120"/>
              </a:rPr>
              <a:t>THE RUBRIC (V3)</a:t>
            </a:r>
            <a:endParaRPr lang="en-US" sz="1100" dirty="0"/>
          </a:p>
        </p:txBody>
      </p:sp>
      <p:sp>
        <p:nvSpPr>
          <p:cNvPr id="3" name="Text 1"/>
          <p:cNvSpPr/>
          <p:nvPr/>
        </p:nvSpPr>
        <p:spPr>
          <a:xfrm>
            <a:off x="457200" y="502920"/>
            <a:ext cx="8229600" cy="548640"/>
          </a:xfrm>
          <a:prstGeom prst="rect">
            <a:avLst/>
          </a:prstGeom>
          <a:noFill/>
          <a:ln/>
        </p:spPr>
        <p:txBody>
          <a:bodyPr wrap="square" lIns="0" tIns="0" rIns="0" bIns="0" rtlCol="0" anchor="ctr"/>
          <a:lstStyle/>
          <a:p>
            <a:pPr marL="0" indent="0">
              <a:buNone/>
            </a:pPr>
            <a:r>
              <a:rPr lang="en-US" sz="2600" b="1" dirty="0">
                <a:solidFill>
                  <a:srgbClr val="1E4028"/>
                </a:solidFill>
                <a:latin typeface="Cambria" pitchFamily="34" charset="0"/>
                <a:ea typeface="Cambria" pitchFamily="34" charset="-122"/>
                <a:cs typeface="Cambria" pitchFamily="34" charset="-120"/>
              </a:rPr>
              <a:t>Elaborate — Criteria</a:t>
            </a:r>
            <a:endParaRPr lang="en-US" sz="2600" dirty="0"/>
          </a:p>
        </p:txBody>
      </p:sp>
      <p:sp>
        <p:nvSpPr>
          <p:cNvPr id="4" name="Text 2"/>
          <p:cNvSpPr/>
          <p:nvPr/>
        </p:nvSpPr>
        <p:spPr>
          <a:xfrm>
            <a:off x="8732520" y="4846320"/>
            <a:ext cx="365760" cy="256032"/>
          </a:xfrm>
          <a:prstGeom prst="rect">
            <a:avLst/>
          </a:prstGeom>
          <a:noFill/>
          <a:ln/>
        </p:spPr>
        <p:txBody>
          <a:bodyPr wrap="square" lIns="0" tIns="0" rIns="0" bIns="0" rtlCol="0" anchor="ctr"/>
          <a:lstStyle/>
          <a:p>
            <a:pPr marL="0" indent="0" algn="r">
              <a:buNone/>
            </a:pPr>
            <a:r>
              <a:rPr lang="en-US" sz="1000" dirty="0">
                <a:solidFill>
                  <a:srgbClr val="5B6B60"/>
                </a:solidFill>
                <a:latin typeface="Calibri" pitchFamily="34" charset="0"/>
                <a:ea typeface="Calibri" pitchFamily="34" charset="-122"/>
                <a:cs typeface="Calibri" pitchFamily="34" charset="-120"/>
              </a:rPr>
              <a:t>5</a:t>
            </a:r>
            <a:endParaRPr lang="en-US" sz="1000" dirty="0"/>
          </a:p>
        </p:txBody>
      </p:sp>
      <p:sp>
        <p:nvSpPr>
          <p:cNvPr id="5" name="Shape 3"/>
          <p:cNvSpPr/>
          <p:nvPr/>
        </p:nvSpPr>
        <p:spPr>
          <a:xfrm>
            <a:off x="7818120" y="457200"/>
            <a:ext cx="457200" cy="457200"/>
          </a:xfrm>
          <a:prstGeom prst="ellipse">
            <a:avLst/>
          </a:prstGeom>
          <a:solidFill>
            <a:srgbClr val="2E5E3B"/>
          </a:solidFill>
          <a:ln w="12700">
            <a:solidFill>
              <a:srgbClr val="2E5E3B"/>
            </a:solidFill>
            <a:prstDash val="solid"/>
          </a:ln>
        </p:spPr>
        <p:txBody>
          <a:bodyPr/>
          <a:lstStyle/>
          <a:p>
            <a:endParaRPr lang="en-US"/>
          </a:p>
        </p:txBody>
      </p:sp>
      <p:sp>
        <p:nvSpPr>
          <p:cNvPr id="6" name="Text 4"/>
          <p:cNvSpPr/>
          <p:nvPr/>
        </p:nvSpPr>
        <p:spPr>
          <a:xfrm>
            <a:off x="7818120" y="457200"/>
            <a:ext cx="457200" cy="457200"/>
          </a:xfrm>
          <a:prstGeom prst="rect">
            <a:avLst/>
          </a:prstGeom>
          <a:noFill/>
          <a:ln/>
        </p:spPr>
        <p:txBody>
          <a:bodyPr wrap="square" lIns="0" tIns="0" rIns="0" bIns="0" rtlCol="0" anchor="ctr"/>
          <a:lstStyle/>
          <a:p>
            <a:pPr marL="0" indent="0" algn="ctr">
              <a:buNone/>
            </a:pPr>
            <a:r>
              <a:rPr lang="en-US" sz="2200" b="1" dirty="0">
                <a:solidFill>
                  <a:srgbClr val="FFD700"/>
                </a:solidFill>
                <a:latin typeface="Calibri" pitchFamily="34" charset="0"/>
                <a:ea typeface="Calibri" pitchFamily="34" charset="-122"/>
                <a:cs typeface="Calibri" pitchFamily="34" charset="-120"/>
              </a:rPr>
              <a:t>E</a:t>
            </a:r>
            <a:endParaRPr lang="en-US" sz="2200" dirty="0"/>
          </a:p>
        </p:txBody>
      </p:sp>
      <p:sp>
        <p:nvSpPr>
          <p:cNvPr id="7" name="Shape 5"/>
          <p:cNvSpPr/>
          <p:nvPr/>
        </p:nvSpPr>
        <p:spPr>
          <a:xfrm>
            <a:off x="457200" y="1188720"/>
            <a:ext cx="8229600" cy="788670"/>
          </a:xfrm>
          <a:prstGeom prst="roundRect">
            <a:avLst>
              <a:gd name="adj" fmla="val 6957"/>
            </a:avLst>
          </a:prstGeom>
          <a:solidFill>
            <a:srgbClr val="FFFFFF"/>
          </a:solidFill>
          <a:ln w="12700">
            <a:solidFill>
              <a:srgbClr val="FFFFFF"/>
            </a:solidFill>
            <a:prstDash val="solid"/>
          </a:ln>
        </p:spPr>
        <p:txBody>
          <a:bodyPr/>
          <a:lstStyle/>
          <a:p>
            <a:endParaRPr lang="en-US"/>
          </a:p>
        </p:txBody>
      </p:sp>
      <p:sp>
        <p:nvSpPr>
          <p:cNvPr id="8" name="Shape 6"/>
          <p:cNvSpPr/>
          <p:nvPr/>
        </p:nvSpPr>
        <p:spPr>
          <a:xfrm>
            <a:off x="457200" y="1188720"/>
            <a:ext cx="1691640" cy="788670"/>
          </a:xfrm>
          <a:prstGeom prst="roundRect">
            <a:avLst>
              <a:gd name="adj" fmla="val 6957"/>
            </a:avLst>
          </a:prstGeom>
          <a:solidFill>
            <a:srgbClr val="2E5E3B"/>
          </a:solidFill>
          <a:ln w="12700">
            <a:solidFill>
              <a:srgbClr val="FFFFFF"/>
            </a:solidFill>
            <a:prstDash val="solid"/>
          </a:ln>
        </p:spPr>
        <p:txBody>
          <a:bodyPr/>
          <a:lstStyle/>
          <a:p>
            <a:endParaRPr lang="en-US"/>
          </a:p>
        </p:txBody>
      </p:sp>
      <p:sp>
        <p:nvSpPr>
          <p:cNvPr id="9" name="Text 7"/>
          <p:cNvSpPr/>
          <p:nvPr/>
        </p:nvSpPr>
        <p:spPr>
          <a:xfrm>
            <a:off x="548640" y="1188720"/>
            <a:ext cx="1508760" cy="788670"/>
          </a:xfrm>
          <a:prstGeom prst="rect">
            <a:avLst/>
          </a:prstGeom>
          <a:noFill/>
          <a:ln/>
        </p:spPr>
        <p:txBody>
          <a:bodyPr wrap="square" lIns="0" tIns="0" rIns="0" bIns="0" rtlCol="0" anchor="ctr"/>
          <a:lstStyle/>
          <a:p>
            <a:pPr marL="0" indent="0">
              <a:buNone/>
            </a:pPr>
            <a:r>
              <a:rPr lang="en-US" sz="1250" b="1" dirty="0">
                <a:solidFill>
                  <a:srgbClr val="FFD700"/>
                </a:solidFill>
                <a:latin typeface="Calibri" pitchFamily="34" charset="0"/>
                <a:ea typeface="Calibri" pitchFamily="34" charset="-122"/>
                <a:cs typeface="Calibri" pitchFamily="34" charset="-120"/>
              </a:rPr>
              <a:t>Completeness</a:t>
            </a:r>
            <a:endParaRPr lang="en-US" sz="1250" dirty="0"/>
          </a:p>
        </p:txBody>
      </p:sp>
      <p:sp>
        <p:nvSpPr>
          <p:cNvPr id="10" name="Text 8"/>
          <p:cNvSpPr/>
          <p:nvPr/>
        </p:nvSpPr>
        <p:spPr>
          <a:xfrm>
            <a:off x="2331720" y="1188720"/>
            <a:ext cx="6172200" cy="788670"/>
          </a:xfrm>
          <a:prstGeom prst="rect">
            <a:avLst/>
          </a:prstGeom>
          <a:noFill/>
          <a:ln/>
        </p:spPr>
        <p:txBody>
          <a:bodyPr wrap="square" lIns="0" tIns="0" rIns="0" bIns="0" rtlCol="0" anchor="ctr"/>
          <a:lstStyle/>
          <a:p>
            <a:pPr marL="0" indent="0">
              <a:buNone/>
            </a:pPr>
            <a:r>
              <a:rPr lang="en-US" sz="1030" dirty="0">
                <a:solidFill>
                  <a:srgbClr val="1A1A1A"/>
                </a:solidFill>
                <a:latin typeface="Calibri" pitchFamily="34" charset="0"/>
                <a:ea typeface="Calibri" pitchFamily="34" charset="-122"/>
                <a:cs typeface="Calibri" pitchFamily="34" charset="-120"/>
              </a:rPr>
              <a:t>The elaboration explains the concept in its fullness: it goes beyond merely restating the statement and captures the essence of all the concept's core component/s in greater detail and length.</a:t>
            </a:r>
            <a:endParaRPr lang="en-US" sz="1030" dirty="0"/>
          </a:p>
        </p:txBody>
      </p:sp>
      <p:sp>
        <p:nvSpPr>
          <p:cNvPr id="11" name="Shape 9"/>
          <p:cNvSpPr/>
          <p:nvPr/>
        </p:nvSpPr>
        <p:spPr>
          <a:xfrm>
            <a:off x="457200" y="2068830"/>
            <a:ext cx="8229600" cy="788670"/>
          </a:xfrm>
          <a:prstGeom prst="roundRect">
            <a:avLst>
              <a:gd name="adj" fmla="val 6957"/>
            </a:avLst>
          </a:prstGeom>
          <a:solidFill>
            <a:srgbClr val="FFFFFF"/>
          </a:solidFill>
          <a:ln w="12700">
            <a:solidFill>
              <a:srgbClr val="FFFFFF"/>
            </a:solidFill>
            <a:prstDash val="solid"/>
          </a:ln>
        </p:spPr>
        <p:txBody>
          <a:bodyPr/>
          <a:lstStyle/>
          <a:p>
            <a:endParaRPr lang="en-US"/>
          </a:p>
        </p:txBody>
      </p:sp>
      <p:sp>
        <p:nvSpPr>
          <p:cNvPr id="12" name="Shape 10"/>
          <p:cNvSpPr/>
          <p:nvPr/>
        </p:nvSpPr>
        <p:spPr>
          <a:xfrm>
            <a:off x="457200" y="2068830"/>
            <a:ext cx="1691640" cy="788670"/>
          </a:xfrm>
          <a:prstGeom prst="roundRect">
            <a:avLst>
              <a:gd name="adj" fmla="val 6957"/>
            </a:avLst>
          </a:prstGeom>
          <a:solidFill>
            <a:srgbClr val="2E5E3B"/>
          </a:solidFill>
          <a:ln w="12700">
            <a:solidFill>
              <a:srgbClr val="FFFFFF"/>
            </a:solidFill>
            <a:prstDash val="solid"/>
          </a:ln>
        </p:spPr>
        <p:txBody>
          <a:bodyPr/>
          <a:lstStyle/>
          <a:p>
            <a:endParaRPr lang="en-US"/>
          </a:p>
        </p:txBody>
      </p:sp>
      <p:sp>
        <p:nvSpPr>
          <p:cNvPr id="13" name="Text 11"/>
          <p:cNvSpPr/>
          <p:nvPr/>
        </p:nvSpPr>
        <p:spPr>
          <a:xfrm>
            <a:off x="548640" y="2068830"/>
            <a:ext cx="1508760" cy="788670"/>
          </a:xfrm>
          <a:prstGeom prst="rect">
            <a:avLst/>
          </a:prstGeom>
          <a:noFill/>
          <a:ln/>
        </p:spPr>
        <p:txBody>
          <a:bodyPr wrap="square" lIns="0" tIns="0" rIns="0" bIns="0" rtlCol="0" anchor="ctr"/>
          <a:lstStyle/>
          <a:p>
            <a:pPr marL="0" indent="0">
              <a:buNone/>
            </a:pPr>
            <a:r>
              <a:rPr lang="en-US" sz="1250" b="1" dirty="0">
                <a:solidFill>
                  <a:srgbClr val="FFD700"/>
                </a:solidFill>
                <a:latin typeface="Calibri" pitchFamily="34" charset="0"/>
                <a:ea typeface="Calibri" pitchFamily="34" charset="-122"/>
                <a:cs typeface="Calibri" pitchFamily="34" charset="-120"/>
              </a:rPr>
              <a:t>Own Words</a:t>
            </a:r>
            <a:endParaRPr lang="en-US" sz="1250" dirty="0"/>
          </a:p>
        </p:txBody>
      </p:sp>
      <p:sp>
        <p:nvSpPr>
          <p:cNvPr id="14" name="Text 12"/>
          <p:cNvSpPr/>
          <p:nvPr/>
        </p:nvSpPr>
        <p:spPr>
          <a:xfrm>
            <a:off x="2331720" y="2068830"/>
            <a:ext cx="6172200" cy="788670"/>
          </a:xfrm>
          <a:prstGeom prst="rect">
            <a:avLst/>
          </a:prstGeom>
          <a:noFill/>
          <a:ln/>
        </p:spPr>
        <p:txBody>
          <a:bodyPr wrap="square" lIns="0" tIns="0" rIns="0" bIns="0" rtlCol="0" anchor="ctr"/>
          <a:lstStyle/>
          <a:p>
            <a:pPr marL="0" indent="0">
              <a:buNone/>
            </a:pPr>
            <a:r>
              <a:rPr lang="en-US" sz="1030" dirty="0">
                <a:solidFill>
                  <a:srgbClr val="1A1A1A"/>
                </a:solidFill>
                <a:latin typeface="Calibri" pitchFamily="34" charset="0"/>
                <a:ea typeface="Calibri" pitchFamily="34" charset="-122"/>
                <a:cs typeface="Calibri" pitchFamily="34" charset="-120"/>
              </a:rPr>
              <a:t>The elaboration is expressed in the user's own words, showing their personal understanding rather than copying or closely paraphrasing the text.</a:t>
            </a:r>
            <a:endParaRPr lang="en-US" sz="1030" dirty="0"/>
          </a:p>
        </p:txBody>
      </p:sp>
      <p:sp>
        <p:nvSpPr>
          <p:cNvPr id="15" name="Shape 13"/>
          <p:cNvSpPr/>
          <p:nvPr/>
        </p:nvSpPr>
        <p:spPr>
          <a:xfrm>
            <a:off x="457200" y="2948940"/>
            <a:ext cx="8229600" cy="788670"/>
          </a:xfrm>
          <a:prstGeom prst="roundRect">
            <a:avLst>
              <a:gd name="adj" fmla="val 6957"/>
            </a:avLst>
          </a:prstGeom>
          <a:solidFill>
            <a:srgbClr val="FFFFFF"/>
          </a:solidFill>
          <a:ln w="12700">
            <a:solidFill>
              <a:srgbClr val="FFFFFF"/>
            </a:solidFill>
            <a:prstDash val="solid"/>
          </a:ln>
        </p:spPr>
        <p:txBody>
          <a:bodyPr/>
          <a:lstStyle/>
          <a:p>
            <a:endParaRPr lang="en-US"/>
          </a:p>
        </p:txBody>
      </p:sp>
      <p:sp>
        <p:nvSpPr>
          <p:cNvPr id="16" name="Shape 14"/>
          <p:cNvSpPr/>
          <p:nvPr/>
        </p:nvSpPr>
        <p:spPr>
          <a:xfrm>
            <a:off x="457200" y="2948940"/>
            <a:ext cx="1691640" cy="788670"/>
          </a:xfrm>
          <a:prstGeom prst="roundRect">
            <a:avLst>
              <a:gd name="adj" fmla="val 6957"/>
            </a:avLst>
          </a:prstGeom>
          <a:solidFill>
            <a:srgbClr val="2E5E3B"/>
          </a:solidFill>
          <a:ln w="12700">
            <a:solidFill>
              <a:srgbClr val="FFFFFF"/>
            </a:solidFill>
            <a:prstDash val="solid"/>
          </a:ln>
        </p:spPr>
        <p:txBody>
          <a:bodyPr/>
          <a:lstStyle/>
          <a:p>
            <a:endParaRPr lang="en-US"/>
          </a:p>
        </p:txBody>
      </p:sp>
      <p:sp>
        <p:nvSpPr>
          <p:cNvPr id="17" name="Text 15"/>
          <p:cNvSpPr/>
          <p:nvPr/>
        </p:nvSpPr>
        <p:spPr>
          <a:xfrm>
            <a:off x="548640" y="2948940"/>
            <a:ext cx="1508760" cy="788670"/>
          </a:xfrm>
          <a:prstGeom prst="rect">
            <a:avLst/>
          </a:prstGeom>
          <a:noFill/>
          <a:ln/>
        </p:spPr>
        <p:txBody>
          <a:bodyPr wrap="square" lIns="0" tIns="0" rIns="0" bIns="0" rtlCol="0" anchor="ctr"/>
          <a:lstStyle/>
          <a:p>
            <a:pPr marL="0" indent="0">
              <a:buNone/>
            </a:pPr>
            <a:r>
              <a:rPr lang="en-US" sz="1250" b="1" dirty="0">
                <a:solidFill>
                  <a:srgbClr val="FFD700"/>
                </a:solidFill>
                <a:latin typeface="Calibri" pitchFamily="34" charset="0"/>
                <a:ea typeface="Calibri" pitchFamily="34" charset="-122"/>
                <a:cs typeface="Calibri" pitchFamily="34" charset="-120"/>
              </a:rPr>
              <a:t>Coherence</a:t>
            </a:r>
            <a:endParaRPr lang="en-US" sz="1250" dirty="0"/>
          </a:p>
        </p:txBody>
      </p:sp>
      <p:sp>
        <p:nvSpPr>
          <p:cNvPr id="18" name="Text 16"/>
          <p:cNvSpPr/>
          <p:nvPr/>
        </p:nvSpPr>
        <p:spPr>
          <a:xfrm>
            <a:off x="2331720" y="2948940"/>
            <a:ext cx="6172200" cy="788670"/>
          </a:xfrm>
          <a:prstGeom prst="rect">
            <a:avLst/>
          </a:prstGeom>
          <a:noFill/>
          <a:ln/>
        </p:spPr>
        <p:txBody>
          <a:bodyPr wrap="square" lIns="0" tIns="0" rIns="0" bIns="0" rtlCol="0" anchor="ctr"/>
          <a:lstStyle/>
          <a:p>
            <a:pPr marL="0" indent="0">
              <a:buNone/>
            </a:pPr>
            <a:r>
              <a:rPr lang="en-US" sz="1030" dirty="0">
                <a:solidFill>
                  <a:srgbClr val="1A1A1A"/>
                </a:solidFill>
                <a:latin typeface="Calibri" pitchFamily="34" charset="0"/>
                <a:ea typeface="Calibri" pitchFamily="34" charset="-122"/>
                <a:cs typeface="Calibri" pitchFamily="34" charset="-120"/>
              </a:rPr>
              <a:t>The elaboration stays focused on explaining the stated concept and directly extends from the statement. It does not drift into unrelated tangents or jump ahead to giving examples.</a:t>
            </a:r>
            <a:endParaRPr lang="en-US" sz="1030" dirty="0"/>
          </a:p>
        </p:txBody>
      </p:sp>
      <p:sp>
        <p:nvSpPr>
          <p:cNvPr id="19" name="Shape 17"/>
          <p:cNvSpPr/>
          <p:nvPr/>
        </p:nvSpPr>
        <p:spPr>
          <a:xfrm>
            <a:off x="457200" y="3829050"/>
            <a:ext cx="8229600" cy="788670"/>
          </a:xfrm>
          <a:prstGeom prst="roundRect">
            <a:avLst>
              <a:gd name="adj" fmla="val 6957"/>
            </a:avLst>
          </a:prstGeom>
          <a:solidFill>
            <a:srgbClr val="FFFFFF"/>
          </a:solidFill>
          <a:ln w="12700">
            <a:solidFill>
              <a:srgbClr val="FFFFFF"/>
            </a:solidFill>
            <a:prstDash val="solid"/>
          </a:ln>
        </p:spPr>
        <p:txBody>
          <a:bodyPr/>
          <a:lstStyle/>
          <a:p>
            <a:endParaRPr lang="en-US"/>
          </a:p>
        </p:txBody>
      </p:sp>
      <p:sp>
        <p:nvSpPr>
          <p:cNvPr id="20" name="Shape 18"/>
          <p:cNvSpPr/>
          <p:nvPr/>
        </p:nvSpPr>
        <p:spPr>
          <a:xfrm>
            <a:off x="457200" y="3829050"/>
            <a:ext cx="1691640" cy="788670"/>
          </a:xfrm>
          <a:prstGeom prst="roundRect">
            <a:avLst>
              <a:gd name="adj" fmla="val 6957"/>
            </a:avLst>
          </a:prstGeom>
          <a:solidFill>
            <a:srgbClr val="2E5E3B"/>
          </a:solidFill>
          <a:ln w="12700">
            <a:solidFill>
              <a:srgbClr val="FFFFFF"/>
            </a:solidFill>
            <a:prstDash val="solid"/>
          </a:ln>
        </p:spPr>
        <p:txBody>
          <a:bodyPr/>
          <a:lstStyle/>
          <a:p>
            <a:endParaRPr lang="en-US"/>
          </a:p>
        </p:txBody>
      </p:sp>
      <p:sp>
        <p:nvSpPr>
          <p:cNvPr id="21" name="Text 19"/>
          <p:cNvSpPr/>
          <p:nvPr/>
        </p:nvSpPr>
        <p:spPr>
          <a:xfrm>
            <a:off x="548640" y="3829050"/>
            <a:ext cx="1508760" cy="788670"/>
          </a:xfrm>
          <a:prstGeom prst="rect">
            <a:avLst/>
          </a:prstGeom>
          <a:noFill/>
          <a:ln/>
        </p:spPr>
        <p:txBody>
          <a:bodyPr wrap="square" lIns="0" tIns="0" rIns="0" bIns="0" rtlCol="0" anchor="ctr"/>
          <a:lstStyle/>
          <a:p>
            <a:pPr marL="0" indent="0">
              <a:buNone/>
            </a:pPr>
            <a:r>
              <a:rPr lang="en-US" sz="1250" b="1" dirty="0">
                <a:solidFill>
                  <a:srgbClr val="FFD700"/>
                </a:solidFill>
                <a:latin typeface="Calibri" pitchFamily="34" charset="0"/>
                <a:ea typeface="Calibri" pitchFamily="34" charset="-122"/>
                <a:cs typeface="Calibri" pitchFamily="34" charset="-120"/>
              </a:rPr>
              <a:t>Accuracy</a:t>
            </a:r>
            <a:endParaRPr lang="en-US" sz="1250" dirty="0"/>
          </a:p>
        </p:txBody>
      </p:sp>
      <p:sp>
        <p:nvSpPr>
          <p:cNvPr id="22" name="Text 20"/>
          <p:cNvSpPr/>
          <p:nvPr/>
        </p:nvSpPr>
        <p:spPr>
          <a:xfrm>
            <a:off x="2331720" y="3829050"/>
            <a:ext cx="6172200" cy="788670"/>
          </a:xfrm>
          <a:prstGeom prst="rect">
            <a:avLst/>
          </a:prstGeom>
          <a:noFill/>
          <a:ln/>
        </p:spPr>
        <p:txBody>
          <a:bodyPr wrap="square" lIns="0" tIns="0" rIns="0" bIns="0" rtlCol="0" anchor="ctr"/>
          <a:lstStyle/>
          <a:p>
            <a:pPr marL="0" indent="0">
              <a:buNone/>
            </a:pPr>
            <a:r>
              <a:rPr lang="en-US" sz="1030" dirty="0">
                <a:solidFill>
                  <a:srgbClr val="1A1A1A"/>
                </a:solidFill>
                <a:latin typeface="Calibri" pitchFamily="34" charset="0"/>
                <a:ea typeface="Calibri" pitchFamily="34" charset="-122"/>
                <a:cs typeface="Calibri" pitchFamily="34" charset="-120"/>
              </a:rPr>
              <a:t>The response is faithful to the reading: everything it asserts about the concept is correct and consistent with the source. It does not contradict the reading, misrepresent the concept, or rely on claims the source does not support.</a:t>
            </a:r>
            <a:endParaRPr lang="en-US" sz="103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3E2DE"/>
        </a:solidFill>
        <a:effectLst/>
      </p:bgPr>
    </p:bg>
    <p:spTree>
      <p:nvGrpSpPr>
        <p:cNvPr id="1" name=""/>
        <p:cNvGrpSpPr/>
        <p:nvPr/>
      </p:nvGrpSpPr>
      <p:grpSpPr>
        <a:xfrm>
          <a:off x="0" y="0"/>
          <a:ext cx="0" cy="0"/>
          <a:chOff x="0" y="0"/>
          <a:chExt cx="0" cy="0"/>
        </a:xfrm>
      </p:grpSpPr>
      <p:sp>
        <p:nvSpPr>
          <p:cNvPr id="2" name="Text 0"/>
          <p:cNvSpPr/>
          <p:nvPr/>
        </p:nvSpPr>
        <p:spPr>
          <a:xfrm>
            <a:off x="457200" y="256032"/>
            <a:ext cx="6400800" cy="274320"/>
          </a:xfrm>
          <a:prstGeom prst="rect">
            <a:avLst/>
          </a:prstGeom>
          <a:noFill/>
          <a:ln/>
        </p:spPr>
        <p:txBody>
          <a:bodyPr wrap="square" lIns="0" tIns="0" rIns="0" bIns="0" rtlCol="0" anchor="ctr"/>
          <a:lstStyle/>
          <a:p>
            <a:pPr marL="0" indent="0">
              <a:buNone/>
            </a:pPr>
            <a:r>
              <a:rPr lang="en-US" sz="1100" b="1" kern="0" spc="200" dirty="0">
                <a:solidFill>
                  <a:srgbClr val="2E5E3B"/>
                </a:solidFill>
                <a:latin typeface="Calibri" pitchFamily="34" charset="0"/>
                <a:ea typeface="Calibri" pitchFamily="34" charset="-122"/>
                <a:cs typeface="Calibri" pitchFamily="34" charset="-120"/>
              </a:rPr>
              <a:t>THE RUBRIC (V3)</a:t>
            </a:r>
            <a:endParaRPr lang="en-US" sz="1100" dirty="0"/>
          </a:p>
        </p:txBody>
      </p:sp>
      <p:sp>
        <p:nvSpPr>
          <p:cNvPr id="3" name="Text 1"/>
          <p:cNvSpPr/>
          <p:nvPr/>
        </p:nvSpPr>
        <p:spPr>
          <a:xfrm>
            <a:off x="457200" y="502920"/>
            <a:ext cx="8229600" cy="548640"/>
          </a:xfrm>
          <a:prstGeom prst="rect">
            <a:avLst/>
          </a:prstGeom>
          <a:noFill/>
          <a:ln/>
        </p:spPr>
        <p:txBody>
          <a:bodyPr wrap="square" lIns="0" tIns="0" rIns="0" bIns="0" rtlCol="0" anchor="ctr"/>
          <a:lstStyle/>
          <a:p>
            <a:pPr marL="0" indent="0">
              <a:buNone/>
            </a:pPr>
            <a:r>
              <a:rPr lang="en-US" sz="2600" b="1" dirty="0">
                <a:solidFill>
                  <a:srgbClr val="1E4028"/>
                </a:solidFill>
                <a:latin typeface="Cambria" pitchFamily="34" charset="0"/>
                <a:ea typeface="Cambria" pitchFamily="34" charset="-122"/>
                <a:cs typeface="Cambria" pitchFamily="34" charset="-120"/>
              </a:rPr>
              <a:t>Exemplify — Criteria</a:t>
            </a:r>
            <a:endParaRPr lang="en-US" sz="2600" dirty="0"/>
          </a:p>
        </p:txBody>
      </p:sp>
      <p:sp>
        <p:nvSpPr>
          <p:cNvPr id="4" name="Text 2"/>
          <p:cNvSpPr/>
          <p:nvPr/>
        </p:nvSpPr>
        <p:spPr>
          <a:xfrm>
            <a:off x="8732520" y="4846320"/>
            <a:ext cx="365760" cy="256032"/>
          </a:xfrm>
          <a:prstGeom prst="rect">
            <a:avLst/>
          </a:prstGeom>
          <a:noFill/>
          <a:ln/>
        </p:spPr>
        <p:txBody>
          <a:bodyPr wrap="square" lIns="0" tIns="0" rIns="0" bIns="0" rtlCol="0" anchor="ctr"/>
          <a:lstStyle/>
          <a:p>
            <a:pPr marL="0" indent="0" algn="r">
              <a:buNone/>
            </a:pPr>
            <a:r>
              <a:rPr lang="en-US" sz="1000" dirty="0">
                <a:solidFill>
                  <a:srgbClr val="5B6B60"/>
                </a:solidFill>
                <a:latin typeface="Calibri" pitchFamily="34" charset="0"/>
                <a:ea typeface="Calibri" pitchFamily="34" charset="-122"/>
                <a:cs typeface="Calibri" pitchFamily="34" charset="-120"/>
              </a:rPr>
              <a:t>6</a:t>
            </a:r>
            <a:endParaRPr lang="en-US" sz="1000" dirty="0"/>
          </a:p>
        </p:txBody>
      </p:sp>
      <p:sp>
        <p:nvSpPr>
          <p:cNvPr id="5" name="Shape 3"/>
          <p:cNvSpPr/>
          <p:nvPr/>
        </p:nvSpPr>
        <p:spPr>
          <a:xfrm>
            <a:off x="7818120" y="457200"/>
            <a:ext cx="457200" cy="457200"/>
          </a:xfrm>
          <a:prstGeom prst="ellipse">
            <a:avLst/>
          </a:prstGeom>
          <a:solidFill>
            <a:srgbClr val="2E5E3B"/>
          </a:solidFill>
          <a:ln w="12700">
            <a:solidFill>
              <a:srgbClr val="2E5E3B"/>
            </a:solidFill>
            <a:prstDash val="solid"/>
          </a:ln>
        </p:spPr>
        <p:txBody>
          <a:bodyPr/>
          <a:lstStyle/>
          <a:p>
            <a:endParaRPr lang="en-US"/>
          </a:p>
        </p:txBody>
      </p:sp>
      <p:sp>
        <p:nvSpPr>
          <p:cNvPr id="6" name="Text 4"/>
          <p:cNvSpPr/>
          <p:nvPr/>
        </p:nvSpPr>
        <p:spPr>
          <a:xfrm>
            <a:off x="7818120" y="457200"/>
            <a:ext cx="457200" cy="457200"/>
          </a:xfrm>
          <a:prstGeom prst="rect">
            <a:avLst/>
          </a:prstGeom>
          <a:noFill/>
          <a:ln/>
        </p:spPr>
        <p:txBody>
          <a:bodyPr wrap="square" lIns="0" tIns="0" rIns="0" bIns="0" rtlCol="0" anchor="ctr"/>
          <a:lstStyle/>
          <a:p>
            <a:pPr marL="0" indent="0" algn="ctr">
              <a:buNone/>
            </a:pPr>
            <a:r>
              <a:rPr lang="en-US" sz="2200" b="1" dirty="0">
                <a:solidFill>
                  <a:srgbClr val="FFD700"/>
                </a:solidFill>
                <a:latin typeface="Calibri" pitchFamily="34" charset="0"/>
                <a:ea typeface="Calibri" pitchFamily="34" charset="-122"/>
                <a:cs typeface="Calibri" pitchFamily="34" charset="-120"/>
              </a:rPr>
              <a:t>E</a:t>
            </a:r>
            <a:endParaRPr lang="en-US" sz="2200" dirty="0"/>
          </a:p>
        </p:txBody>
      </p:sp>
      <p:sp>
        <p:nvSpPr>
          <p:cNvPr id="7" name="Shape 5"/>
          <p:cNvSpPr/>
          <p:nvPr/>
        </p:nvSpPr>
        <p:spPr>
          <a:xfrm>
            <a:off x="457200" y="1188720"/>
            <a:ext cx="8229600" cy="495300"/>
          </a:xfrm>
          <a:prstGeom prst="roundRect">
            <a:avLst>
              <a:gd name="adj" fmla="val 11077"/>
            </a:avLst>
          </a:prstGeom>
          <a:solidFill>
            <a:srgbClr val="FFFFFF"/>
          </a:solidFill>
          <a:ln w="12700">
            <a:solidFill>
              <a:srgbClr val="FFFFFF"/>
            </a:solidFill>
            <a:prstDash val="solid"/>
          </a:ln>
        </p:spPr>
        <p:txBody>
          <a:bodyPr/>
          <a:lstStyle/>
          <a:p>
            <a:endParaRPr lang="en-US"/>
          </a:p>
        </p:txBody>
      </p:sp>
      <p:sp>
        <p:nvSpPr>
          <p:cNvPr id="8" name="Shape 6"/>
          <p:cNvSpPr/>
          <p:nvPr/>
        </p:nvSpPr>
        <p:spPr>
          <a:xfrm>
            <a:off x="457200" y="1188720"/>
            <a:ext cx="1691640" cy="495300"/>
          </a:xfrm>
          <a:prstGeom prst="roundRect">
            <a:avLst>
              <a:gd name="adj" fmla="val 11077"/>
            </a:avLst>
          </a:prstGeom>
          <a:solidFill>
            <a:srgbClr val="2E5E3B"/>
          </a:solidFill>
          <a:ln w="12700">
            <a:solidFill>
              <a:srgbClr val="FFFFFF"/>
            </a:solidFill>
            <a:prstDash val="solid"/>
          </a:ln>
        </p:spPr>
        <p:txBody>
          <a:bodyPr/>
          <a:lstStyle/>
          <a:p>
            <a:endParaRPr lang="en-US"/>
          </a:p>
        </p:txBody>
      </p:sp>
      <p:sp>
        <p:nvSpPr>
          <p:cNvPr id="9" name="Text 7"/>
          <p:cNvSpPr/>
          <p:nvPr/>
        </p:nvSpPr>
        <p:spPr>
          <a:xfrm>
            <a:off x="548640" y="1188720"/>
            <a:ext cx="1508760" cy="495300"/>
          </a:xfrm>
          <a:prstGeom prst="rect">
            <a:avLst/>
          </a:prstGeom>
          <a:noFill/>
          <a:ln/>
        </p:spPr>
        <p:txBody>
          <a:bodyPr wrap="square" lIns="0" tIns="0" rIns="0" bIns="0" rtlCol="0" anchor="ctr"/>
          <a:lstStyle/>
          <a:p>
            <a:pPr marL="0" indent="0">
              <a:buNone/>
            </a:pPr>
            <a:r>
              <a:rPr lang="en-US" sz="1250" b="1" dirty="0">
                <a:solidFill>
                  <a:srgbClr val="FFD700"/>
                </a:solidFill>
                <a:latin typeface="Calibri" pitchFamily="34" charset="0"/>
                <a:ea typeface="Calibri" pitchFamily="34" charset="-122"/>
                <a:cs typeface="Calibri" pitchFamily="34" charset="-120"/>
              </a:rPr>
              <a:t>Originality</a:t>
            </a:r>
            <a:endParaRPr lang="en-US" sz="1250" dirty="0"/>
          </a:p>
        </p:txBody>
      </p:sp>
      <p:sp>
        <p:nvSpPr>
          <p:cNvPr id="10" name="Text 8"/>
          <p:cNvSpPr/>
          <p:nvPr/>
        </p:nvSpPr>
        <p:spPr>
          <a:xfrm>
            <a:off x="2331720" y="1188720"/>
            <a:ext cx="6172200" cy="495300"/>
          </a:xfrm>
          <a:prstGeom prst="rect">
            <a:avLst/>
          </a:prstGeom>
          <a:noFill/>
          <a:ln/>
        </p:spPr>
        <p:txBody>
          <a:bodyPr wrap="square" lIns="0" tIns="0" rIns="0" bIns="0" rtlCol="0" anchor="ctr"/>
          <a:lstStyle/>
          <a:p>
            <a:pPr marL="0" indent="0">
              <a:buNone/>
            </a:pPr>
            <a:r>
              <a:rPr lang="en-US" sz="1030" dirty="0">
                <a:solidFill>
                  <a:srgbClr val="1A1A1A"/>
                </a:solidFill>
                <a:latin typeface="Calibri" pitchFamily="34" charset="0"/>
                <a:ea typeface="Calibri" pitchFamily="34" charset="-122"/>
                <a:cs typeface="Calibri" pitchFamily="34" charset="-120"/>
              </a:rPr>
              <a:t>The example is the student's own original example. It is not taken from or based on an example in the text/reading.</a:t>
            </a:r>
            <a:endParaRPr lang="en-US" sz="1030" dirty="0"/>
          </a:p>
        </p:txBody>
      </p:sp>
      <p:sp>
        <p:nvSpPr>
          <p:cNvPr id="11" name="Shape 9"/>
          <p:cNvSpPr/>
          <p:nvPr/>
        </p:nvSpPr>
        <p:spPr>
          <a:xfrm>
            <a:off x="457200" y="1775460"/>
            <a:ext cx="8229600" cy="495300"/>
          </a:xfrm>
          <a:prstGeom prst="roundRect">
            <a:avLst>
              <a:gd name="adj" fmla="val 11077"/>
            </a:avLst>
          </a:prstGeom>
          <a:solidFill>
            <a:srgbClr val="FFFFFF"/>
          </a:solidFill>
          <a:ln w="12700">
            <a:solidFill>
              <a:srgbClr val="FFFFFF"/>
            </a:solidFill>
            <a:prstDash val="solid"/>
          </a:ln>
        </p:spPr>
        <p:txBody>
          <a:bodyPr/>
          <a:lstStyle/>
          <a:p>
            <a:endParaRPr lang="en-US"/>
          </a:p>
        </p:txBody>
      </p:sp>
      <p:sp>
        <p:nvSpPr>
          <p:cNvPr id="12" name="Shape 10"/>
          <p:cNvSpPr/>
          <p:nvPr/>
        </p:nvSpPr>
        <p:spPr>
          <a:xfrm>
            <a:off x="457200" y="1775460"/>
            <a:ext cx="1691640" cy="495300"/>
          </a:xfrm>
          <a:prstGeom prst="roundRect">
            <a:avLst>
              <a:gd name="adj" fmla="val 11077"/>
            </a:avLst>
          </a:prstGeom>
          <a:solidFill>
            <a:srgbClr val="2E5E3B"/>
          </a:solidFill>
          <a:ln w="12700">
            <a:solidFill>
              <a:srgbClr val="FFFFFF"/>
            </a:solidFill>
            <a:prstDash val="solid"/>
          </a:ln>
        </p:spPr>
        <p:txBody>
          <a:bodyPr/>
          <a:lstStyle/>
          <a:p>
            <a:endParaRPr lang="en-US"/>
          </a:p>
        </p:txBody>
      </p:sp>
      <p:sp>
        <p:nvSpPr>
          <p:cNvPr id="13" name="Text 11"/>
          <p:cNvSpPr/>
          <p:nvPr/>
        </p:nvSpPr>
        <p:spPr>
          <a:xfrm>
            <a:off x="548640" y="1775460"/>
            <a:ext cx="1508760" cy="495300"/>
          </a:xfrm>
          <a:prstGeom prst="rect">
            <a:avLst/>
          </a:prstGeom>
          <a:noFill/>
          <a:ln/>
        </p:spPr>
        <p:txBody>
          <a:bodyPr wrap="square" lIns="0" tIns="0" rIns="0" bIns="0" rtlCol="0" anchor="ctr"/>
          <a:lstStyle/>
          <a:p>
            <a:pPr marL="0" indent="0">
              <a:buNone/>
            </a:pPr>
            <a:r>
              <a:rPr lang="en-US" sz="1250" b="1" dirty="0">
                <a:solidFill>
                  <a:srgbClr val="FFD700"/>
                </a:solidFill>
                <a:latin typeface="Calibri" pitchFamily="34" charset="0"/>
                <a:ea typeface="Calibri" pitchFamily="34" charset="-122"/>
                <a:cs typeface="Calibri" pitchFamily="34" charset="-120"/>
              </a:rPr>
              <a:t>Fit</a:t>
            </a:r>
            <a:endParaRPr lang="en-US" sz="1250" dirty="0"/>
          </a:p>
        </p:txBody>
      </p:sp>
      <p:sp>
        <p:nvSpPr>
          <p:cNvPr id="14" name="Text 12"/>
          <p:cNvSpPr/>
          <p:nvPr/>
        </p:nvSpPr>
        <p:spPr>
          <a:xfrm>
            <a:off x="2331720" y="1775460"/>
            <a:ext cx="6172200" cy="495300"/>
          </a:xfrm>
          <a:prstGeom prst="rect">
            <a:avLst/>
          </a:prstGeom>
          <a:noFill/>
          <a:ln/>
        </p:spPr>
        <p:txBody>
          <a:bodyPr wrap="square" lIns="0" tIns="0" rIns="0" bIns="0" rtlCol="0" anchor="ctr"/>
          <a:lstStyle/>
          <a:p>
            <a:pPr marL="0" indent="0">
              <a:buNone/>
            </a:pPr>
            <a:r>
              <a:rPr lang="en-US" sz="1030" dirty="0">
                <a:solidFill>
                  <a:srgbClr val="1A1A1A"/>
                </a:solidFill>
                <a:latin typeface="Calibri" pitchFamily="34" charset="0"/>
                <a:ea typeface="Calibri" pitchFamily="34" charset="-122"/>
                <a:cs typeface="Calibri" pitchFamily="34" charset="-120"/>
              </a:rPr>
              <a:t>The example genuinely displays the concept as stated and elaborated. It is a true instance of the concept, not something only partially or tangentially related.</a:t>
            </a:r>
            <a:endParaRPr lang="en-US" sz="1030" dirty="0"/>
          </a:p>
        </p:txBody>
      </p:sp>
      <p:sp>
        <p:nvSpPr>
          <p:cNvPr id="15" name="Shape 13"/>
          <p:cNvSpPr/>
          <p:nvPr/>
        </p:nvSpPr>
        <p:spPr>
          <a:xfrm>
            <a:off x="457200" y="2362200"/>
            <a:ext cx="8229600" cy="495300"/>
          </a:xfrm>
          <a:prstGeom prst="roundRect">
            <a:avLst>
              <a:gd name="adj" fmla="val 11077"/>
            </a:avLst>
          </a:prstGeom>
          <a:solidFill>
            <a:srgbClr val="FFFFFF"/>
          </a:solidFill>
          <a:ln w="12700">
            <a:solidFill>
              <a:srgbClr val="FFFFFF"/>
            </a:solidFill>
            <a:prstDash val="solid"/>
          </a:ln>
        </p:spPr>
        <p:txBody>
          <a:bodyPr/>
          <a:lstStyle/>
          <a:p>
            <a:endParaRPr lang="en-US"/>
          </a:p>
        </p:txBody>
      </p:sp>
      <p:sp>
        <p:nvSpPr>
          <p:cNvPr id="16" name="Shape 14"/>
          <p:cNvSpPr/>
          <p:nvPr/>
        </p:nvSpPr>
        <p:spPr>
          <a:xfrm>
            <a:off x="457200" y="2362200"/>
            <a:ext cx="1691640" cy="495300"/>
          </a:xfrm>
          <a:prstGeom prst="roundRect">
            <a:avLst>
              <a:gd name="adj" fmla="val 11077"/>
            </a:avLst>
          </a:prstGeom>
          <a:solidFill>
            <a:srgbClr val="2E5E3B"/>
          </a:solidFill>
          <a:ln w="12700">
            <a:solidFill>
              <a:srgbClr val="FFFFFF"/>
            </a:solidFill>
            <a:prstDash val="solid"/>
          </a:ln>
        </p:spPr>
        <p:txBody>
          <a:bodyPr/>
          <a:lstStyle/>
          <a:p>
            <a:endParaRPr lang="en-US"/>
          </a:p>
        </p:txBody>
      </p:sp>
      <p:sp>
        <p:nvSpPr>
          <p:cNvPr id="17" name="Text 15"/>
          <p:cNvSpPr/>
          <p:nvPr/>
        </p:nvSpPr>
        <p:spPr>
          <a:xfrm>
            <a:off x="548640" y="2362200"/>
            <a:ext cx="1508760" cy="495300"/>
          </a:xfrm>
          <a:prstGeom prst="rect">
            <a:avLst/>
          </a:prstGeom>
          <a:noFill/>
          <a:ln/>
        </p:spPr>
        <p:txBody>
          <a:bodyPr wrap="square" lIns="0" tIns="0" rIns="0" bIns="0" rtlCol="0" anchor="ctr"/>
          <a:lstStyle/>
          <a:p>
            <a:pPr marL="0" indent="0">
              <a:buNone/>
            </a:pPr>
            <a:r>
              <a:rPr lang="en-US" sz="1250" b="1" dirty="0">
                <a:solidFill>
                  <a:srgbClr val="FFD700"/>
                </a:solidFill>
                <a:latin typeface="Calibri" pitchFamily="34" charset="0"/>
                <a:ea typeface="Calibri" pitchFamily="34" charset="-122"/>
                <a:cs typeface="Calibri" pitchFamily="34" charset="-120"/>
              </a:rPr>
              <a:t>Concreteness</a:t>
            </a:r>
            <a:endParaRPr lang="en-US" sz="1250" dirty="0"/>
          </a:p>
        </p:txBody>
      </p:sp>
      <p:sp>
        <p:nvSpPr>
          <p:cNvPr id="18" name="Text 16"/>
          <p:cNvSpPr/>
          <p:nvPr/>
        </p:nvSpPr>
        <p:spPr>
          <a:xfrm>
            <a:off x="2331720" y="2362200"/>
            <a:ext cx="6172200" cy="495300"/>
          </a:xfrm>
          <a:prstGeom prst="rect">
            <a:avLst/>
          </a:prstGeom>
          <a:noFill/>
          <a:ln/>
        </p:spPr>
        <p:txBody>
          <a:bodyPr wrap="square" lIns="0" tIns="0" rIns="0" bIns="0" rtlCol="0" anchor="ctr"/>
          <a:lstStyle/>
          <a:p>
            <a:pPr marL="0" indent="0">
              <a:buNone/>
            </a:pPr>
            <a:r>
              <a:rPr lang="en-US" sz="1030" dirty="0">
                <a:solidFill>
                  <a:srgbClr val="1A1A1A"/>
                </a:solidFill>
                <a:latin typeface="Calibri" pitchFamily="34" charset="0"/>
                <a:ea typeface="Calibri" pitchFamily="34" charset="-122"/>
                <a:cs typeface="Calibri" pitchFamily="34" charset="-120"/>
              </a:rPr>
              <a:t>The example is concrete and points to a real or realistic instance the reader can connect with.</a:t>
            </a:r>
            <a:endParaRPr lang="en-US" sz="1030" dirty="0"/>
          </a:p>
        </p:txBody>
      </p:sp>
      <p:sp>
        <p:nvSpPr>
          <p:cNvPr id="19" name="Shape 17"/>
          <p:cNvSpPr/>
          <p:nvPr/>
        </p:nvSpPr>
        <p:spPr>
          <a:xfrm>
            <a:off x="457200" y="2948940"/>
            <a:ext cx="8229600" cy="495300"/>
          </a:xfrm>
          <a:prstGeom prst="roundRect">
            <a:avLst>
              <a:gd name="adj" fmla="val 11077"/>
            </a:avLst>
          </a:prstGeom>
          <a:solidFill>
            <a:srgbClr val="FFFFFF"/>
          </a:solidFill>
          <a:ln w="12700">
            <a:solidFill>
              <a:srgbClr val="FFFFFF"/>
            </a:solidFill>
            <a:prstDash val="solid"/>
          </a:ln>
        </p:spPr>
        <p:txBody>
          <a:bodyPr/>
          <a:lstStyle/>
          <a:p>
            <a:endParaRPr lang="en-US"/>
          </a:p>
        </p:txBody>
      </p:sp>
      <p:sp>
        <p:nvSpPr>
          <p:cNvPr id="20" name="Shape 18"/>
          <p:cNvSpPr/>
          <p:nvPr/>
        </p:nvSpPr>
        <p:spPr>
          <a:xfrm>
            <a:off x="457200" y="2948940"/>
            <a:ext cx="1691640" cy="495300"/>
          </a:xfrm>
          <a:prstGeom prst="roundRect">
            <a:avLst>
              <a:gd name="adj" fmla="val 11077"/>
            </a:avLst>
          </a:prstGeom>
          <a:solidFill>
            <a:srgbClr val="2E5E3B"/>
          </a:solidFill>
          <a:ln w="12700">
            <a:solidFill>
              <a:srgbClr val="FFFFFF"/>
            </a:solidFill>
            <a:prstDash val="solid"/>
          </a:ln>
        </p:spPr>
        <p:txBody>
          <a:bodyPr/>
          <a:lstStyle/>
          <a:p>
            <a:endParaRPr lang="en-US"/>
          </a:p>
        </p:txBody>
      </p:sp>
      <p:sp>
        <p:nvSpPr>
          <p:cNvPr id="21" name="Text 19"/>
          <p:cNvSpPr/>
          <p:nvPr/>
        </p:nvSpPr>
        <p:spPr>
          <a:xfrm>
            <a:off x="548640" y="2948940"/>
            <a:ext cx="1508760" cy="495300"/>
          </a:xfrm>
          <a:prstGeom prst="rect">
            <a:avLst/>
          </a:prstGeom>
          <a:noFill/>
          <a:ln/>
        </p:spPr>
        <p:txBody>
          <a:bodyPr wrap="square" lIns="0" tIns="0" rIns="0" bIns="0" rtlCol="0" anchor="ctr"/>
          <a:lstStyle/>
          <a:p>
            <a:pPr marL="0" indent="0">
              <a:buNone/>
            </a:pPr>
            <a:r>
              <a:rPr lang="en-US" sz="1250" b="1" dirty="0">
                <a:solidFill>
                  <a:srgbClr val="FFD700"/>
                </a:solidFill>
                <a:latin typeface="Calibri" pitchFamily="34" charset="0"/>
                <a:ea typeface="Calibri" pitchFamily="34" charset="-122"/>
                <a:cs typeface="Calibri" pitchFamily="34" charset="-120"/>
              </a:rPr>
              <a:t>Explicit Mapping</a:t>
            </a:r>
            <a:endParaRPr lang="en-US" sz="1250" dirty="0"/>
          </a:p>
        </p:txBody>
      </p:sp>
      <p:sp>
        <p:nvSpPr>
          <p:cNvPr id="22" name="Text 20"/>
          <p:cNvSpPr/>
          <p:nvPr/>
        </p:nvSpPr>
        <p:spPr>
          <a:xfrm>
            <a:off x="2331720" y="2948940"/>
            <a:ext cx="6172200" cy="495300"/>
          </a:xfrm>
          <a:prstGeom prst="rect">
            <a:avLst/>
          </a:prstGeom>
          <a:noFill/>
          <a:ln/>
        </p:spPr>
        <p:txBody>
          <a:bodyPr wrap="square" lIns="0" tIns="0" rIns="0" bIns="0" rtlCol="0" anchor="ctr"/>
          <a:lstStyle/>
          <a:p>
            <a:pPr marL="0" indent="0">
              <a:buNone/>
            </a:pPr>
            <a:r>
              <a:rPr lang="en-US" sz="1030" dirty="0">
                <a:solidFill>
                  <a:srgbClr val="1A1A1A"/>
                </a:solidFill>
                <a:latin typeface="Calibri" pitchFamily="34" charset="0"/>
                <a:ea typeface="Calibri" pitchFamily="34" charset="-122"/>
                <a:cs typeface="Calibri" pitchFamily="34" charset="-120"/>
              </a:rPr>
              <a:t>The example includes an explanation of how or why it illustrates the concept. It is not simply presented without connecting it back.</a:t>
            </a:r>
            <a:endParaRPr lang="en-US" sz="1030" dirty="0"/>
          </a:p>
        </p:txBody>
      </p:sp>
      <p:sp>
        <p:nvSpPr>
          <p:cNvPr id="23" name="Shape 21"/>
          <p:cNvSpPr/>
          <p:nvPr/>
        </p:nvSpPr>
        <p:spPr>
          <a:xfrm>
            <a:off x="457200" y="3535680"/>
            <a:ext cx="8229600" cy="495300"/>
          </a:xfrm>
          <a:prstGeom prst="roundRect">
            <a:avLst>
              <a:gd name="adj" fmla="val 11077"/>
            </a:avLst>
          </a:prstGeom>
          <a:solidFill>
            <a:srgbClr val="FFFFFF"/>
          </a:solidFill>
          <a:ln w="12700">
            <a:solidFill>
              <a:srgbClr val="FFFFFF"/>
            </a:solidFill>
            <a:prstDash val="solid"/>
          </a:ln>
        </p:spPr>
        <p:txBody>
          <a:bodyPr/>
          <a:lstStyle/>
          <a:p>
            <a:endParaRPr lang="en-US"/>
          </a:p>
        </p:txBody>
      </p:sp>
      <p:sp>
        <p:nvSpPr>
          <p:cNvPr id="24" name="Shape 22"/>
          <p:cNvSpPr/>
          <p:nvPr/>
        </p:nvSpPr>
        <p:spPr>
          <a:xfrm>
            <a:off x="457200" y="3535680"/>
            <a:ext cx="1691640" cy="495300"/>
          </a:xfrm>
          <a:prstGeom prst="roundRect">
            <a:avLst>
              <a:gd name="adj" fmla="val 11077"/>
            </a:avLst>
          </a:prstGeom>
          <a:solidFill>
            <a:srgbClr val="2E5E3B"/>
          </a:solidFill>
          <a:ln w="12700">
            <a:solidFill>
              <a:srgbClr val="FFFFFF"/>
            </a:solidFill>
            <a:prstDash val="solid"/>
          </a:ln>
        </p:spPr>
        <p:txBody>
          <a:bodyPr/>
          <a:lstStyle/>
          <a:p>
            <a:endParaRPr lang="en-US"/>
          </a:p>
        </p:txBody>
      </p:sp>
      <p:sp>
        <p:nvSpPr>
          <p:cNvPr id="25" name="Text 23"/>
          <p:cNvSpPr/>
          <p:nvPr/>
        </p:nvSpPr>
        <p:spPr>
          <a:xfrm>
            <a:off x="548640" y="3535680"/>
            <a:ext cx="1508760" cy="495300"/>
          </a:xfrm>
          <a:prstGeom prst="rect">
            <a:avLst/>
          </a:prstGeom>
          <a:noFill/>
          <a:ln/>
        </p:spPr>
        <p:txBody>
          <a:bodyPr wrap="square" lIns="0" tIns="0" rIns="0" bIns="0" rtlCol="0" anchor="ctr"/>
          <a:lstStyle/>
          <a:p>
            <a:pPr marL="0" indent="0">
              <a:buNone/>
            </a:pPr>
            <a:r>
              <a:rPr lang="en-US" sz="1250" b="1" dirty="0">
                <a:solidFill>
                  <a:srgbClr val="FFD700"/>
                </a:solidFill>
                <a:latin typeface="Calibri" pitchFamily="34" charset="0"/>
                <a:ea typeface="Calibri" pitchFamily="34" charset="-122"/>
                <a:cs typeface="Calibri" pitchFamily="34" charset="-120"/>
              </a:rPr>
              <a:t>Contrast</a:t>
            </a:r>
            <a:endParaRPr lang="en-US" sz="1250" dirty="0"/>
          </a:p>
        </p:txBody>
      </p:sp>
      <p:sp>
        <p:nvSpPr>
          <p:cNvPr id="26" name="Text 24"/>
          <p:cNvSpPr/>
          <p:nvPr/>
        </p:nvSpPr>
        <p:spPr>
          <a:xfrm>
            <a:off x="2331720" y="3535680"/>
            <a:ext cx="6172200" cy="495300"/>
          </a:xfrm>
          <a:prstGeom prst="rect">
            <a:avLst/>
          </a:prstGeom>
          <a:noFill/>
          <a:ln/>
        </p:spPr>
        <p:txBody>
          <a:bodyPr wrap="square" lIns="0" tIns="0" rIns="0" bIns="0" rtlCol="0" anchor="ctr"/>
          <a:lstStyle/>
          <a:p>
            <a:pPr marL="0" indent="0">
              <a:buNone/>
            </a:pPr>
            <a:r>
              <a:rPr lang="en-US" sz="1030" dirty="0">
                <a:solidFill>
                  <a:srgbClr val="1A1A1A"/>
                </a:solidFill>
                <a:latin typeface="Calibri" pitchFamily="34" charset="0"/>
                <a:ea typeface="Calibri" pitchFamily="34" charset="-122"/>
                <a:cs typeface="Calibri" pitchFamily="34" charset="-120"/>
              </a:rPr>
              <a:t>The response includes a contrasting example: a genuine non-example (something that is not an instance of the concept) that clarifies the concept's boundary.</a:t>
            </a:r>
            <a:endParaRPr lang="en-US" sz="1030" dirty="0"/>
          </a:p>
        </p:txBody>
      </p:sp>
      <p:sp>
        <p:nvSpPr>
          <p:cNvPr id="27" name="Shape 25"/>
          <p:cNvSpPr/>
          <p:nvPr/>
        </p:nvSpPr>
        <p:spPr>
          <a:xfrm>
            <a:off x="457200" y="4122420"/>
            <a:ext cx="8229600" cy="495300"/>
          </a:xfrm>
          <a:prstGeom prst="roundRect">
            <a:avLst>
              <a:gd name="adj" fmla="val 11077"/>
            </a:avLst>
          </a:prstGeom>
          <a:solidFill>
            <a:srgbClr val="FFFFFF"/>
          </a:solidFill>
          <a:ln w="12700">
            <a:solidFill>
              <a:srgbClr val="FFFFFF"/>
            </a:solidFill>
            <a:prstDash val="solid"/>
          </a:ln>
        </p:spPr>
        <p:txBody>
          <a:bodyPr/>
          <a:lstStyle/>
          <a:p>
            <a:endParaRPr lang="en-US"/>
          </a:p>
        </p:txBody>
      </p:sp>
      <p:sp>
        <p:nvSpPr>
          <p:cNvPr id="28" name="Shape 26"/>
          <p:cNvSpPr/>
          <p:nvPr/>
        </p:nvSpPr>
        <p:spPr>
          <a:xfrm>
            <a:off x="457200" y="4122420"/>
            <a:ext cx="1691640" cy="495300"/>
          </a:xfrm>
          <a:prstGeom prst="roundRect">
            <a:avLst>
              <a:gd name="adj" fmla="val 11077"/>
            </a:avLst>
          </a:prstGeom>
          <a:solidFill>
            <a:srgbClr val="2E5E3B"/>
          </a:solidFill>
          <a:ln w="12700">
            <a:solidFill>
              <a:srgbClr val="FFFFFF"/>
            </a:solidFill>
            <a:prstDash val="solid"/>
          </a:ln>
        </p:spPr>
        <p:txBody>
          <a:bodyPr/>
          <a:lstStyle/>
          <a:p>
            <a:endParaRPr lang="en-US"/>
          </a:p>
        </p:txBody>
      </p:sp>
      <p:sp>
        <p:nvSpPr>
          <p:cNvPr id="29" name="Text 27"/>
          <p:cNvSpPr/>
          <p:nvPr/>
        </p:nvSpPr>
        <p:spPr>
          <a:xfrm>
            <a:off x="548640" y="4122420"/>
            <a:ext cx="1508760" cy="495300"/>
          </a:xfrm>
          <a:prstGeom prst="rect">
            <a:avLst/>
          </a:prstGeom>
          <a:noFill/>
          <a:ln/>
        </p:spPr>
        <p:txBody>
          <a:bodyPr wrap="square" lIns="0" tIns="0" rIns="0" bIns="0" rtlCol="0" anchor="ctr"/>
          <a:lstStyle/>
          <a:p>
            <a:pPr marL="0" indent="0">
              <a:buNone/>
            </a:pPr>
            <a:r>
              <a:rPr lang="en-US" sz="1250" b="1" dirty="0">
                <a:solidFill>
                  <a:srgbClr val="FFD700"/>
                </a:solidFill>
                <a:latin typeface="Calibri" pitchFamily="34" charset="0"/>
                <a:ea typeface="Calibri" pitchFamily="34" charset="-122"/>
                <a:cs typeface="Calibri" pitchFamily="34" charset="-120"/>
              </a:rPr>
              <a:t>Accuracy</a:t>
            </a:r>
            <a:endParaRPr lang="en-US" sz="1250" dirty="0"/>
          </a:p>
        </p:txBody>
      </p:sp>
      <p:sp>
        <p:nvSpPr>
          <p:cNvPr id="30" name="Text 28"/>
          <p:cNvSpPr/>
          <p:nvPr/>
        </p:nvSpPr>
        <p:spPr>
          <a:xfrm>
            <a:off x="2331720" y="4122420"/>
            <a:ext cx="6172200" cy="495300"/>
          </a:xfrm>
          <a:prstGeom prst="rect">
            <a:avLst/>
          </a:prstGeom>
          <a:noFill/>
          <a:ln/>
        </p:spPr>
        <p:txBody>
          <a:bodyPr wrap="square" lIns="0" tIns="0" rIns="0" bIns="0" rtlCol="0" anchor="ctr"/>
          <a:lstStyle/>
          <a:p>
            <a:pPr marL="0" indent="0">
              <a:buNone/>
            </a:pPr>
            <a:r>
              <a:rPr lang="en-US" sz="1030" dirty="0">
                <a:solidFill>
                  <a:srgbClr val="1A1A1A"/>
                </a:solidFill>
                <a:latin typeface="Calibri" pitchFamily="34" charset="0"/>
                <a:ea typeface="Calibri" pitchFamily="34" charset="-122"/>
                <a:cs typeface="Calibri" pitchFamily="34" charset="-120"/>
              </a:rPr>
              <a:t>The response is faithful to the reading: everything it asserts about the concept is correct and consistent with the source. It does not contradict the reading, misrepresent the concept, or rely on claims the source does not support.</a:t>
            </a:r>
            <a:endParaRPr lang="en-US" sz="103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3E2DE"/>
        </a:solidFill>
        <a:effectLst/>
      </p:bgPr>
    </p:bg>
    <p:spTree>
      <p:nvGrpSpPr>
        <p:cNvPr id="1" name=""/>
        <p:cNvGrpSpPr/>
        <p:nvPr/>
      </p:nvGrpSpPr>
      <p:grpSpPr>
        <a:xfrm>
          <a:off x="0" y="0"/>
          <a:ext cx="0" cy="0"/>
          <a:chOff x="0" y="0"/>
          <a:chExt cx="0" cy="0"/>
        </a:xfrm>
      </p:grpSpPr>
      <p:sp>
        <p:nvSpPr>
          <p:cNvPr id="2" name="Text 0"/>
          <p:cNvSpPr/>
          <p:nvPr/>
        </p:nvSpPr>
        <p:spPr>
          <a:xfrm>
            <a:off x="457200" y="256032"/>
            <a:ext cx="6400800" cy="274320"/>
          </a:xfrm>
          <a:prstGeom prst="rect">
            <a:avLst/>
          </a:prstGeom>
          <a:noFill/>
          <a:ln/>
        </p:spPr>
        <p:txBody>
          <a:bodyPr wrap="square" lIns="0" tIns="0" rIns="0" bIns="0" rtlCol="0" anchor="ctr"/>
          <a:lstStyle/>
          <a:p>
            <a:pPr marL="0" indent="0">
              <a:buNone/>
            </a:pPr>
            <a:r>
              <a:rPr lang="en-US" sz="1100" b="1" kern="0" spc="200" dirty="0">
                <a:solidFill>
                  <a:srgbClr val="2E5E3B"/>
                </a:solidFill>
                <a:latin typeface="Calibri" pitchFamily="34" charset="0"/>
                <a:ea typeface="Calibri" pitchFamily="34" charset="-122"/>
                <a:cs typeface="Calibri" pitchFamily="34" charset="-120"/>
              </a:rPr>
              <a:t>THE RUBRIC (V3)</a:t>
            </a:r>
            <a:endParaRPr lang="en-US" sz="1100" dirty="0"/>
          </a:p>
        </p:txBody>
      </p:sp>
      <p:sp>
        <p:nvSpPr>
          <p:cNvPr id="3" name="Text 1"/>
          <p:cNvSpPr/>
          <p:nvPr/>
        </p:nvSpPr>
        <p:spPr>
          <a:xfrm>
            <a:off x="457200" y="502920"/>
            <a:ext cx="8229600" cy="548640"/>
          </a:xfrm>
          <a:prstGeom prst="rect">
            <a:avLst/>
          </a:prstGeom>
          <a:noFill/>
          <a:ln/>
        </p:spPr>
        <p:txBody>
          <a:bodyPr wrap="square" lIns="0" tIns="0" rIns="0" bIns="0" rtlCol="0" anchor="ctr"/>
          <a:lstStyle/>
          <a:p>
            <a:pPr marL="0" indent="0">
              <a:buNone/>
            </a:pPr>
            <a:r>
              <a:rPr lang="en-US" sz="2600" b="1" dirty="0">
                <a:solidFill>
                  <a:srgbClr val="1E4028"/>
                </a:solidFill>
                <a:latin typeface="Cambria" pitchFamily="34" charset="0"/>
                <a:ea typeface="Cambria" pitchFamily="34" charset="-122"/>
                <a:cs typeface="Cambria" pitchFamily="34" charset="-120"/>
              </a:rPr>
              <a:t>Illustrate — Criteria</a:t>
            </a:r>
            <a:endParaRPr lang="en-US" sz="2600" dirty="0"/>
          </a:p>
        </p:txBody>
      </p:sp>
      <p:sp>
        <p:nvSpPr>
          <p:cNvPr id="4" name="Text 2"/>
          <p:cNvSpPr/>
          <p:nvPr/>
        </p:nvSpPr>
        <p:spPr>
          <a:xfrm>
            <a:off x="8732520" y="4846320"/>
            <a:ext cx="365760" cy="256032"/>
          </a:xfrm>
          <a:prstGeom prst="rect">
            <a:avLst/>
          </a:prstGeom>
          <a:noFill/>
          <a:ln/>
        </p:spPr>
        <p:txBody>
          <a:bodyPr wrap="square" lIns="0" tIns="0" rIns="0" bIns="0" rtlCol="0" anchor="ctr"/>
          <a:lstStyle/>
          <a:p>
            <a:pPr marL="0" indent="0" algn="r">
              <a:buNone/>
            </a:pPr>
            <a:r>
              <a:rPr lang="en-US" sz="1000" dirty="0">
                <a:solidFill>
                  <a:srgbClr val="5B6B60"/>
                </a:solidFill>
                <a:latin typeface="Calibri" pitchFamily="34" charset="0"/>
                <a:ea typeface="Calibri" pitchFamily="34" charset="-122"/>
                <a:cs typeface="Calibri" pitchFamily="34" charset="-120"/>
              </a:rPr>
              <a:t>7</a:t>
            </a:r>
            <a:endParaRPr lang="en-US" sz="1000" dirty="0"/>
          </a:p>
        </p:txBody>
      </p:sp>
      <p:sp>
        <p:nvSpPr>
          <p:cNvPr id="5" name="Shape 3"/>
          <p:cNvSpPr/>
          <p:nvPr/>
        </p:nvSpPr>
        <p:spPr>
          <a:xfrm>
            <a:off x="7818120" y="457200"/>
            <a:ext cx="457200" cy="457200"/>
          </a:xfrm>
          <a:prstGeom prst="ellipse">
            <a:avLst/>
          </a:prstGeom>
          <a:solidFill>
            <a:srgbClr val="2E5E3B"/>
          </a:solidFill>
          <a:ln w="12700">
            <a:solidFill>
              <a:srgbClr val="2E5E3B"/>
            </a:solidFill>
            <a:prstDash val="solid"/>
          </a:ln>
        </p:spPr>
        <p:txBody>
          <a:bodyPr/>
          <a:lstStyle/>
          <a:p>
            <a:endParaRPr lang="en-US"/>
          </a:p>
        </p:txBody>
      </p:sp>
      <p:sp>
        <p:nvSpPr>
          <p:cNvPr id="6" name="Text 4"/>
          <p:cNvSpPr/>
          <p:nvPr/>
        </p:nvSpPr>
        <p:spPr>
          <a:xfrm>
            <a:off x="7818120" y="457200"/>
            <a:ext cx="457200" cy="457200"/>
          </a:xfrm>
          <a:prstGeom prst="rect">
            <a:avLst/>
          </a:prstGeom>
          <a:noFill/>
          <a:ln/>
        </p:spPr>
        <p:txBody>
          <a:bodyPr wrap="square" lIns="0" tIns="0" rIns="0" bIns="0" rtlCol="0" anchor="ctr"/>
          <a:lstStyle/>
          <a:p>
            <a:pPr marL="0" indent="0" algn="ctr">
              <a:buNone/>
            </a:pPr>
            <a:r>
              <a:rPr lang="en-US" sz="2200" b="1" dirty="0">
                <a:solidFill>
                  <a:srgbClr val="FFD700"/>
                </a:solidFill>
                <a:latin typeface="Calibri" pitchFamily="34" charset="0"/>
                <a:ea typeface="Calibri" pitchFamily="34" charset="-122"/>
                <a:cs typeface="Calibri" pitchFamily="34" charset="-120"/>
              </a:rPr>
              <a:t>I</a:t>
            </a:r>
            <a:endParaRPr lang="en-US" sz="2200" dirty="0"/>
          </a:p>
        </p:txBody>
      </p:sp>
      <p:sp>
        <p:nvSpPr>
          <p:cNvPr id="7" name="Shape 5"/>
          <p:cNvSpPr/>
          <p:nvPr/>
        </p:nvSpPr>
        <p:spPr>
          <a:xfrm>
            <a:off x="457200" y="1188720"/>
            <a:ext cx="8229600" cy="788670"/>
          </a:xfrm>
          <a:prstGeom prst="roundRect">
            <a:avLst>
              <a:gd name="adj" fmla="val 6957"/>
            </a:avLst>
          </a:prstGeom>
          <a:solidFill>
            <a:srgbClr val="FFFFFF"/>
          </a:solidFill>
          <a:ln w="12700">
            <a:solidFill>
              <a:srgbClr val="FFFFFF"/>
            </a:solidFill>
            <a:prstDash val="solid"/>
          </a:ln>
        </p:spPr>
        <p:txBody>
          <a:bodyPr/>
          <a:lstStyle/>
          <a:p>
            <a:endParaRPr lang="en-US"/>
          </a:p>
        </p:txBody>
      </p:sp>
      <p:sp>
        <p:nvSpPr>
          <p:cNvPr id="8" name="Shape 6"/>
          <p:cNvSpPr/>
          <p:nvPr/>
        </p:nvSpPr>
        <p:spPr>
          <a:xfrm>
            <a:off x="457200" y="1188720"/>
            <a:ext cx="1691640" cy="788670"/>
          </a:xfrm>
          <a:prstGeom prst="roundRect">
            <a:avLst>
              <a:gd name="adj" fmla="val 6957"/>
            </a:avLst>
          </a:prstGeom>
          <a:solidFill>
            <a:srgbClr val="2E5E3B"/>
          </a:solidFill>
          <a:ln w="12700">
            <a:solidFill>
              <a:srgbClr val="FFFFFF"/>
            </a:solidFill>
            <a:prstDash val="solid"/>
          </a:ln>
        </p:spPr>
        <p:txBody>
          <a:bodyPr/>
          <a:lstStyle/>
          <a:p>
            <a:endParaRPr lang="en-US"/>
          </a:p>
        </p:txBody>
      </p:sp>
      <p:sp>
        <p:nvSpPr>
          <p:cNvPr id="9" name="Text 7"/>
          <p:cNvSpPr/>
          <p:nvPr/>
        </p:nvSpPr>
        <p:spPr>
          <a:xfrm>
            <a:off x="548640" y="1188720"/>
            <a:ext cx="1508760" cy="788670"/>
          </a:xfrm>
          <a:prstGeom prst="rect">
            <a:avLst/>
          </a:prstGeom>
          <a:noFill/>
          <a:ln/>
        </p:spPr>
        <p:txBody>
          <a:bodyPr wrap="square" lIns="0" tIns="0" rIns="0" bIns="0" rtlCol="0" anchor="ctr"/>
          <a:lstStyle/>
          <a:p>
            <a:pPr marL="0" indent="0">
              <a:buNone/>
            </a:pPr>
            <a:r>
              <a:rPr lang="en-US" sz="1250" b="1" dirty="0">
                <a:solidFill>
                  <a:srgbClr val="FFD700"/>
                </a:solidFill>
                <a:latin typeface="Calibri" pitchFamily="34" charset="0"/>
                <a:ea typeface="Calibri" pitchFamily="34" charset="-122"/>
                <a:cs typeface="Calibri" pitchFamily="34" charset="-120"/>
              </a:rPr>
              <a:t>Analogy</a:t>
            </a:r>
            <a:endParaRPr lang="en-US" sz="1250" dirty="0"/>
          </a:p>
        </p:txBody>
      </p:sp>
      <p:sp>
        <p:nvSpPr>
          <p:cNvPr id="10" name="Text 8"/>
          <p:cNvSpPr/>
          <p:nvPr/>
        </p:nvSpPr>
        <p:spPr>
          <a:xfrm>
            <a:off x="2331720" y="1188720"/>
            <a:ext cx="6172200" cy="788670"/>
          </a:xfrm>
          <a:prstGeom prst="rect">
            <a:avLst/>
          </a:prstGeom>
          <a:noFill/>
          <a:ln/>
        </p:spPr>
        <p:txBody>
          <a:bodyPr wrap="square" lIns="0" tIns="0" rIns="0" bIns="0" rtlCol="0" anchor="ctr"/>
          <a:lstStyle/>
          <a:p>
            <a:pPr marL="0" indent="0">
              <a:buNone/>
            </a:pPr>
            <a:r>
              <a:rPr lang="en-US" sz="1030" dirty="0">
                <a:solidFill>
                  <a:srgbClr val="1A1A1A"/>
                </a:solidFill>
                <a:latin typeface="Calibri" pitchFamily="34" charset="0"/>
                <a:ea typeface="Calibri" pitchFamily="34" charset="-122"/>
                <a:cs typeface="Calibri" pitchFamily="34" charset="-120"/>
              </a:rPr>
              <a:t>The illustration is a comparison to something else, outside of the context of the text/reading. It could be an analogy, simile, or metaphor and not just a second example of the concept.</a:t>
            </a:r>
            <a:endParaRPr lang="en-US" sz="1030" dirty="0"/>
          </a:p>
        </p:txBody>
      </p:sp>
      <p:sp>
        <p:nvSpPr>
          <p:cNvPr id="11" name="Shape 9"/>
          <p:cNvSpPr/>
          <p:nvPr/>
        </p:nvSpPr>
        <p:spPr>
          <a:xfrm>
            <a:off x="457200" y="2068830"/>
            <a:ext cx="8229600" cy="788670"/>
          </a:xfrm>
          <a:prstGeom prst="roundRect">
            <a:avLst>
              <a:gd name="adj" fmla="val 6957"/>
            </a:avLst>
          </a:prstGeom>
          <a:solidFill>
            <a:srgbClr val="FFFFFF"/>
          </a:solidFill>
          <a:ln w="12700">
            <a:solidFill>
              <a:srgbClr val="FFFFFF"/>
            </a:solidFill>
            <a:prstDash val="solid"/>
          </a:ln>
        </p:spPr>
        <p:txBody>
          <a:bodyPr/>
          <a:lstStyle/>
          <a:p>
            <a:endParaRPr lang="en-US"/>
          </a:p>
        </p:txBody>
      </p:sp>
      <p:sp>
        <p:nvSpPr>
          <p:cNvPr id="12" name="Shape 10"/>
          <p:cNvSpPr/>
          <p:nvPr/>
        </p:nvSpPr>
        <p:spPr>
          <a:xfrm>
            <a:off x="457200" y="2068830"/>
            <a:ext cx="1691640" cy="788670"/>
          </a:xfrm>
          <a:prstGeom prst="roundRect">
            <a:avLst>
              <a:gd name="adj" fmla="val 6957"/>
            </a:avLst>
          </a:prstGeom>
          <a:solidFill>
            <a:srgbClr val="2E5E3B"/>
          </a:solidFill>
          <a:ln w="12700">
            <a:solidFill>
              <a:srgbClr val="FFFFFF"/>
            </a:solidFill>
            <a:prstDash val="solid"/>
          </a:ln>
        </p:spPr>
        <p:txBody>
          <a:bodyPr/>
          <a:lstStyle/>
          <a:p>
            <a:endParaRPr lang="en-US"/>
          </a:p>
        </p:txBody>
      </p:sp>
      <p:sp>
        <p:nvSpPr>
          <p:cNvPr id="13" name="Text 11"/>
          <p:cNvSpPr/>
          <p:nvPr/>
        </p:nvSpPr>
        <p:spPr>
          <a:xfrm>
            <a:off x="548640" y="2068830"/>
            <a:ext cx="1508760" cy="788670"/>
          </a:xfrm>
          <a:prstGeom prst="rect">
            <a:avLst/>
          </a:prstGeom>
          <a:noFill/>
          <a:ln/>
        </p:spPr>
        <p:txBody>
          <a:bodyPr wrap="square" lIns="0" tIns="0" rIns="0" bIns="0" rtlCol="0" anchor="ctr"/>
          <a:lstStyle/>
          <a:p>
            <a:pPr marL="0" indent="0">
              <a:buNone/>
            </a:pPr>
            <a:r>
              <a:rPr lang="en-US" sz="1250" b="1" dirty="0">
                <a:solidFill>
                  <a:srgbClr val="FFD700"/>
                </a:solidFill>
                <a:latin typeface="Calibri" pitchFamily="34" charset="0"/>
                <a:ea typeface="Calibri" pitchFamily="34" charset="-122"/>
                <a:cs typeface="Calibri" pitchFamily="34" charset="-120"/>
              </a:rPr>
              <a:t>Match</a:t>
            </a:r>
            <a:endParaRPr lang="en-US" sz="1250" dirty="0"/>
          </a:p>
        </p:txBody>
      </p:sp>
      <p:sp>
        <p:nvSpPr>
          <p:cNvPr id="14" name="Text 12"/>
          <p:cNvSpPr/>
          <p:nvPr/>
        </p:nvSpPr>
        <p:spPr>
          <a:xfrm>
            <a:off x="2331720" y="2068830"/>
            <a:ext cx="6172200" cy="788670"/>
          </a:xfrm>
          <a:prstGeom prst="rect">
            <a:avLst/>
          </a:prstGeom>
          <a:noFill/>
          <a:ln/>
        </p:spPr>
        <p:txBody>
          <a:bodyPr wrap="square" lIns="0" tIns="0" rIns="0" bIns="0" rtlCol="0" anchor="ctr"/>
          <a:lstStyle/>
          <a:p>
            <a:pPr marL="0" indent="0">
              <a:buNone/>
            </a:pPr>
            <a:r>
              <a:rPr lang="en-US" sz="1030" dirty="0">
                <a:solidFill>
                  <a:srgbClr val="1A1A1A"/>
                </a:solidFill>
                <a:latin typeface="Calibri" pitchFamily="34" charset="0"/>
                <a:ea typeface="Calibri" pitchFamily="34" charset="-122"/>
                <a:cs typeface="Calibri" pitchFamily="34" charset="-120"/>
              </a:rPr>
              <a:t>The illustration captures the meaning or essence of the concept and it holds in ways that are meaningful, not just superficially similar.</a:t>
            </a:r>
            <a:endParaRPr lang="en-US" sz="1030" dirty="0"/>
          </a:p>
        </p:txBody>
      </p:sp>
      <p:sp>
        <p:nvSpPr>
          <p:cNvPr id="15" name="Shape 13"/>
          <p:cNvSpPr/>
          <p:nvPr/>
        </p:nvSpPr>
        <p:spPr>
          <a:xfrm>
            <a:off x="457200" y="2948940"/>
            <a:ext cx="8229600" cy="788670"/>
          </a:xfrm>
          <a:prstGeom prst="roundRect">
            <a:avLst>
              <a:gd name="adj" fmla="val 6957"/>
            </a:avLst>
          </a:prstGeom>
          <a:solidFill>
            <a:srgbClr val="FFFFFF"/>
          </a:solidFill>
          <a:ln w="12700">
            <a:solidFill>
              <a:srgbClr val="FFFFFF"/>
            </a:solidFill>
            <a:prstDash val="solid"/>
          </a:ln>
        </p:spPr>
        <p:txBody>
          <a:bodyPr/>
          <a:lstStyle/>
          <a:p>
            <a:endParaRPr lang="en-US"/>
          </a:p>
        </p:txBody>
      </p:sp>
      <p:sp>
        <p:nvSpPr>
          <p:cNvPr id="16" name="Shape 14"/>
          <p:cNvSpPr/>
          <p:nvPr/>
        </p:nvSpPr>
        <p:spPr>
          <a:xfrm>
            <a:off x="457200" y="2948940"/>
            <a:ext cx="1691640" cy="788670"/>
          </a:xfrm>
          <a:prstGeom prst="roundRect">
            <a:avLst>
              <a:gd name="adj" fmla="val 6957"/>
            </a:avLst>
          </a:prstGeom>
          <a:solidFill>
            <a:srgbClr val="2E5E3B"/>
          </a:solidFill>
          <a:ln w="12700">
            <a:solidFill>
              <a:srgbClr val="FFFFFF"/>
            </a:solidFill>
            <a:prstDash val="solid"/>
          </a:ln>
        </p:spPr>
        <p:txBody>
          <a:bodyPr/>
          <a:lstStyle/>
          <a:p>
            <a:endParaRPr lang="en-US"/>
          </a:p>
        </p:txBody>
      </p:sp>
      <p:sp>
        <p:nvSpPr>
          <p:cNvPr id="17" name="Text 15"/>
          <p:cNvSpPr/>
          <p:nvPr/>
        </p:nvSpPr>
        <p:spPr>
          <a:xfrm>
            <a:off x="548640" y="2948940"/>
            <a:ext cx="1508760" cy="788670"/>
          </a:xfrm>
          <a:prstGeom prst="rect">
            <a:avLst/>
          </a:prstGeom>
          <a:noFill/>
          <a:ln/>
        </p:spPr>
        <p:txBody>
          <a:bodyPr wrap="square" lIns="0" tIns="0" rIns="0" bIns="0" rtlCol="0" anchor="ctr"/>
          <a:lstStyle/>
          <a:p>
            <a:pPr marL="0" indent="0">
              <a:buNone/>
            </a:pPr>
            <a:r>
              <a:rPr lang="en-US" sz="1250" b="1" dirty="0">
                <a:solidFill>
                  <a:srgbClr val="FFD700"/>
                </a:solidFill>
                <a:latin typeface="Calibri" pitchFamily="34" charset="0"/>
                <a:ea typeface="Calibri" pitchFamily="34" charset="-122"/>
                <a:cs typeface="Calibri" pitchFamily="34" charset="-120"/>
              </a:rPr>
              <a:t>Imagery</a:t>
            </a:r>
            <a:endParaRPr lang="en-US" sz="1250" dirty="0"/>
          </a:p>
        </p:txBody>
      </p:sp>
      <p:sp>
        <p:nvSpPr>
          <p:cNvPr id="18" name="Text 16"/>
          <p:cNvSpPr/>
          <p:nvPr/>
        </p:nvSpPr>
        <p:spPr>
          <a:xfrm>
            <a:off x="2331720" y="2948940"/>
            <a:ext cx="6172200" cy="788670"/>
          </a:xfrm>
          <a:prstGeom prst="rect">
            <a:avLst/>
          </a:prstGeom>
          <a:noFill/>
          <a:ln/>
        </p:spPr>
        <p:txBody>
          <a:bodyPr wrap="square" lIns="0" tIns="0" rIns="0" bIns="0" rtlCol="0" anchor="ctr"/>
          <a:lstStyle/>
          <a:p>
            <a:pPr marL="0" indent="0">
              <a:buNone/>
            </a:pPr>
            <a:r>
              <a:rPr lang="en-US" sz="1030" dirty="0">
                <a:solidFill>
                  <a:srgbClr val="1A1A1A"/>
                </a:solidFill>
                <a:latin typeface="Calibri" pitchFamily="34" charset="0"/>
                <a:ea typeface="Calibri" pitchFamily="34" charset="-122"/>
                <a:cs typeface="Calibri" pitchFamily="34" charset="-120"/>
              </a:rPr>
              <a:t>The illustration gives the reader something they can picture in their mind. It is concrete and expressive enough to form a mental image.</a:t>
            </a:r>
            <a:endParaRPr lang="en-US" sz="1030" dirty="0"/>
          </a:p>
        </p:txBody>
      </p:sp>
      <p:sp>
        <p:nvSpPr>
          <p:cNvPr id="19" name="Shape 17"/>
          <p:cNvSpPr/>
          <p:nvPr/>
        </p:nvSpPr>
        <p:spPr>
          <a:xfrm>
            <a:off x="457200" y="3829050"/>
            <a:ext cx="8229600" cy="788670"/>
          </a:xfrm>
          <a:prstGeom prst="roundRect">
            <a:avLst>
              <a:gd name="adj" fmla="val 6957"/>
            </a:avLst>
          </a:prstGeom>
          <a:solidFill>
            <a:srgbClr val="FFFFFF"/>
          </a:solidFill>
          <a:ln w="12700">
            <a:solidFill>
              <a:srgbClr val="FFFFFF"/>
            </a:solidFill>
            <a:prstDash val="solid"/>
          </a:ln>
        </p:spPr>
        <p:txBody>
          <a:bodyPr/>
          <a:lstStyle/>
          <a:p>
            <a:endParaRPr lang="en-US"/>
          </a:p>
        </p:txBody>
      </p:sp>
      <p:sp>
        <p:nvSpPr>
          <p:cNvPr id="20" name="Shape 18"/>
          <p:cNvSpPr/>
          <p:nvPr/>
        </p:nvSpPr>
        <p:spPr>
          <a:xfrm>
            <a:off x="457200" y="3829050"/>
            <a:ext cx="1691640" cy="788670"/>
          </a:xfrm>
          <a:prstGeom prst="roundRect">
            <a:avLst>
              <a:gd name="adj" fmla="val 6957"/>
            </a:avLst>
          </a:prstGeom>
          <a:solidFill>
            <a:srgbClr val="2E5E3B"/>
          </a:solidFill>
          <a:ln w="12700">
            <a:solidFill>
              <a:srgbClr val="FFFFFF"/>
            </a:solidFill>
            <a:prstDash val="solid"/>
          </a:ln>
        </p:spPr>
        <p:txBody>
          <a:bodyPr/>
          <a:lstStyle/>
          <a:p>
            <a:endParaRPr lang="en-US"/>
          </a:p>
        </p:txBody>
      </p:sp>
      <p:sp>
        <p:nvSpPr>
          <p:cNvPr id="21" name="Text 19"/>
          <p:cNvSpPr/>
          <p:nvPr/>
        </p:nvSpPr>
        <p:spPr>
          <a:xfrm>
            <a:off x="548640" y="3829050"/>
            <a:ext cx="1508760" cy="788670"/>
          </a:xfrm>
          <a:prstGeom prst="rect">
            <a:avLst/>
          </a:prstGeom>
          <a:noFill/>
          <a:ln/>
        </p:spPr>
        <p:txBody>
          <a:bodyPr wrap="square" lIns="0" tIns="0" rIns="0" bIns="0" rtlCol="0" anchor="ctr"/>
          <a:lstStyle/>
          <a:p>
            <a:pPr marL="0" indent="0">
              <a:buNone/>
            </a:pPr>
            <a:r>
              <a:rPr lang="en-US" sz="1250" b="1" dirty="0">
                <a:solidFill>
                  <a:srgbClr val="FFD700"/>
                </a:solidFill>
                <a:latin typeface="Calibri" pitchFamily="34" charset="0"/>
                <a:ea typeface="Calibri" pitchFamily="34" charset="-122"/>
                <a:cs typeface="Calibri" pitchFamily="34" charset="-120"/>
              </a:rPr>
              <a:t>Accuracy</a:t>
            </a:r>
            <a:endParaRPr lang="en-US" sz="1250" dirty="0"/>
          </a:p>
        </p:txBody>
      </p:sp>
      <p:sp>
        <p:nvSpPr>
          <p:cNvPr id="22" name="Text 20"/>
          <p:cNvSpPr/>
          <p:nvPr/>
        </p:nvSpPr>
        <p:spPr>
          <a:xfrm>
            <a:off x="2331720" y="3829050"/>
            <a:ext cx="6172200" cy="788670"/>
          </a:xfrm>
          <a:prstGeom prst="rect">
            <a:avLst/>
          </a:prstGeom>
          <a:noFill/>
          <a:ln/>
        </p:spPr>
        <p:txBody>
          <a:bodyPr wrap="square" lIns="0" tIns="0" rIns="0" bIns="0" rtlCol="0" anchor="ctr"/>
          <a:lstStyle/>
          <a:p>
            <a:pPr marL="0" indent="0">
              <a:buNone/>
            </a:pPr>
            <a:r>
              <a:rPr lang="en-US" sz="1030" dirty="0">
                <a:solidFill>
                  <a:srgbClr val="1A1A1A"/>
                </a:solidFill>
                <a:latin typeface="Calibri" pitchFamily="34" charset="0"/>
                <a:ea typeface="Calibri" pitchFamily="34" charset="-122"/>
                <a:cs typeface="Calibri" pitchFamily="34" charset="-120"/>
              </a:rPr>
              <a:t>The response is faithful to the reading: everything it asserts about the concept is correct and consistent with the source. It does not contradict the reading, misrepresent the concept, or rely on claims the source does not support.</a:t>
            </a:r>
            <a:endParaRPr lang="en-US" sz="103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3E2DE"/>
        </a:solidFill>
        <a:effectLst/>
      </p:bgPr>
    </p:bg>
    <p:spTree>
      <p:nvGrpSpPr>
        <p:cNvPr id="1" name=""/>
        <p:cNvGrpSpPr/>
        <p:nvPr/>
      </p:nvGrpSpPr>
      <p:grpSpPr>
        <a:xfrm>
          <a:off x="0" y="0"/>
          <a:ext cx="0" cy="0"/>
          <a:chOff x="0" y="0"/>
          <a:chExt cx="0" cy="0"/>
        </a:xfrm>
      </p:grpSpPr>
      <p:sp>
        <p:nvSpPr>
          <p:cNvPr id="2" name="Text 0"/>
          <p:cNvSpPr/>
          <p:nvPr/>
        </p:nvSpPr>
        <p:spPr>
          <a:xfrm>
            <a:off x="457200" y="256032"/>
            <a:ext cx="6400800" cy="274320"/>
          </a:xfrm>
          <a:prstGeom prst="rect">
            <a:avLst/>
          </a:prstGeom>
          <a:noFill/>
          <a:ln/>
        </p:spPr>
        <p:txBody>
          <a:bodyPr wrap="square" lIns="0" tIns="0" rIns="0" bIns="0" rtlCol="0" anchor="ctr"/>
          <a:lstStyle/>
          <a:p>
            <a:pPr marL="0" indent="0">
              <a:buNone/>
            </a:pPr>
            <a:r>
              <a:rPr lang="en-US" sz="1100" b="1" kern="0" spc="200" dirty="0">
                <a:solidFill>
                  <a:srgbClr val="2E5E3B"/>
                </a:solidFill>
                <a:latin typeface="Calibri" pitchFamily="34" charset="0"/>
                <a:ea typeface="Calibri" pitchFamily="34" charset="-122"/>
                <a:cs typeface="Calibri" pitchFamily="34" charset="-120"/>
              </a:rPr>
              <a:t>AGENT LOGIC</a:t>
            </a:r>
            <a:endParaRPr lang="en-US" sz="1100" dirty="0"/>
          </a:p>
        </p:txBody>
      </p:sp>
      <p:sp>
        <p:nvSpPr>
          <p:cNvPr id="3" name="Text 1"/>
          <p:cNvSpPr/>
          <p:nvPr/>
        </p:nvSpPr>
        <p:spPr>
          <a:xfrm>
            <a:off x="457200" y="502920"/>
            <a:ext cx="8229600" cy="548640"/>
          </a:xfrm>
          <a:prstGeom prst="rect">
            <a:avLst/>
          </a:prstGeom>
          <a:noFill/>
          <a:ln/>
        </p:spPr>
        <p:txBody>
          <a:bodyPr wrap="square" lIns="0" tIns="0" rIns="0" bIns="0" rtlCol="0" anchor="ctr"/>
          <a:lstStyle/>
          <a:p>
            <a:pPr marL="0" indent="0">
              <a:buNone/>
            </a:pPr>
            <a:r>
              <a:rPr lang="en-US" sz="2600" b="1" dirty="0">
                <a:solidFill>
                  <a:srgbClr val="1E4028"/>
                </a:solidFill>
                <a:latin typeface="Cambria" pitchFamily="34" charset="0"/>
                <a:ea typeface="Cambria" pitchFamily="34" charset="-122"/>
                <a:cs typeface="Cambria" pitchFamily="34" charset="-120"/>
              </a:rPr>
              <a:t>How the Assessment Agent Applies the Rubric</a:t>
            </a:r>
            <a:endParaRPr lang="en-US" sz="2600" dirty="0"/>
          </a:p>
        </p:txBody>
      </p:sp>
      <p:sp>
        <p:nvSpPr>
          <p:cNvPr id="4" name="Text 2"/>
          <p:cNvSpPr/>
          <p:nvPr/>
        </p:nvSpPr>
        <p:spPr>
          <a:xfrm>
            <a:off x="8732520" y="4846320"/>
            <a:ext cx="365760" cy="256032"/>
          </a:xfrm>
          <a:prstGeom prst="rect">
            <a:avLst/>
          </a:prstGeom>
          <a:noFill/>
          <a:ln/>
        </p:spPr>
        <p:txBody>
          <a:bodyPr wrap="square" lIns="0" tIns="0" rIns="0" bIns="0" rtlCol="0" anchor="ctr"/>
          <a:lstStyle/>
          <a:p>
            <a:pPr marL="0" indent="0" algn="r">
              <a:buNone/>
            </a:pPr>
            <a:r>
              <a:rPr lang="en-US" sz="1000" dirty="0">
                <a:solidFill>
                  <a:srgbClr val="5B6B60"/>
                </a:solidFill>
                <a:latin typeface="Calibri" pitchFamily="34" charset="0"/>
                <a:ea typeface="Calibri" pitchFamily="34" charset="-122"/>
                <a:cs typeface="Calibri" pitchFamily="34" charset="-120"/>
              </a:rPr>
              <a:t>8</a:t>
            </a:r>
            <a:endParaRPr lang="en-US" sz="1000" dirty="0"/>
          </a:p>
        </p:txBody>
      </p:sp>
      <p:sp>
        <p:nvSpPr>
          <p:cNvPr id="5" name="Shape 3"/>
          <p:cNvSpPr/>
          <p:nvPr/>
        </p:nvSpPr>
        <p:spPr>
          <a:xfrm>
            <a:off x="457200" y="1234440"/>
            <a:ext cx="8229600" cy="548640"/>
          </a:xfrm>
          <a:prstGeom prst="roundRect">
            <a:avLst>
              <a:gd name="adj" fmla="val 10000"/>
            </a:avLst>
          </a:prstGeom>
          <a:solidFill>
            <a:srgbClr val="1E4028"/>
          </a:solidFill>
          <a:ln w="12700">
            <a:solidFill>
              <a:srgbClr val="FFFFFF"/>
            </a:solidFill>
            <a:prstDash val="solid"/>
          </a:ln>
          <a:effectLst>
            <a:outerShdw blurRad="76200" dist="25400" dir="2700000" algn="bl" rotWithShape="0">
              <a:srgbClr val="000000">
                <a:alpha val="12000"/>
              </a:srgbClr>
            </a:outerShdw>
          </a:effectLst>
        </p:spPr>
        <p:txBody>
          <a:bodyPr/>
          <a:lstStyle/>
          <a:p>
            <a:endParaRPr lang="en-US"/>
          </a:p>
        </p:txBody>
      </p:sp>
      <p:sp>
        <p:nvSpPr>
          <p:cNvPr id="6" name="Text 4"/>
          <p:cNvSpPr/>
          <p:nvPr/>
        </p:nvSpPr>
        <p:spPr>
          <a:xfrm>
            <a:off x="640080" y="1234440"/>
            <a:ext cx="7863840" cy="5486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Load the rubric for the current SEE-I step</a:t>
            </a:r>
            <a:endParaRPr lang="en-US" sz="1250" dirty="0"/>
          </a:p>
        </p:txBody>
      </p:sp>
      <p:sp>
        <p:nvSpPr>
          <p:cNvPr id="7" name="Shape 5"/>
          <p:cNvSpPr/>
          <p:nvPr/>
        </p:nvSpPr>
        <p:spPr>
          <a:xfrm>
            <a:off x="4498848" y="1801368"/>
            <a:ext cx="146304" cy="201168"/>
          </a:xfrm>
          <a:prstGeom prst="downArrow">
            <a:avLst/>
          </a:prstGeom>
          <a:solidFill>
            <a:srgbClr val="1E4028"/>
          </a:solidFill>
          <a:ln w="12700">
            <a:solidFill>
              <a:srgbClr val="1E4028"/>
            </a:solidFill>
            <a:prstDash val="solid"/>
          </a:ln>
        </p:spPr>
        <p:txBody>
          <a:bodyPr/>
          <a:lstStyle/>
          <a:p>
            <a:endParaRPr lang="en-US"/>
          </a:p>
        </p:txBody>
      </p:sp>
      <p:sp>
        <p:nvSpPr>
          <p:cNvPr id="8" name="Shape 6"/>
          <p:cNvSpPr/>
          <p:nvPr/>
        </p:nvSpPr>
        <p:spPr>
          <a:xfrm>
            <a:off x="1371600" y="2057400"/>
            <a:ext cx="6400800" cy="1051560"/>
          </a:xfrm>
          <a:prstGeom prst="roundRect">
            <a:avLst>
              <a:gd name="adj" fmla="val 5217"/>
            </a:avLst>
          </a:prstGeom>
          <a:solidFill>
            <a:srgbClr val="FFD700"/>
          </a:solidFill>
          <a:ln w="12700">
            <a:solidFill>
              <a:srgbClr val="FFFFFF"/>
            </a:solidFill>
            <a:prstDash val="solid"/>
          </a:ln>
          <a:effectLst>
            <a:outerShdw blurRad="76200" dist="25400" dir="2700000" algn="bl" rotWithShape="0">
              <a:srgbClr val="000000">
                <a:alpha val="12000"/>
              </a:srgbClr>
            </a:outerShdw>
          </a:effectLst>
        </p:spPr>
        <p:txBody>
          <a:bodyPr/>
          <a:lstStyle/>
          <a:p>
            <a:endParaRPr lang="en-US"/>
          </a:p>
        </p:txBody>
      </p:sp>
      <p:sp>
        <p:nvSpPr>
          <p:cNvPr id="9" name="Text 7"/>
          <p:cNvSpPr/>
          <p:nvPr/>
        </p:nvSpPr>
        <p:spPr>
          <a:xfrm>
            <a:off x="1554480" y="2148840"/>
            <a:ext cx="6035040" cy="274320"/>
          </a:xfrm>
          <a:prstGeom prst="rect">
            <a:avLst/>
          </a:prstGeom>
          <a:noFill/>
          <a:ln/>
        </p:spPr>
        <p:txBody>
          <a:bodyPr wrap="square" lIns="0" tIns="0" rIns="0" bIns="0" rtlCol="0" anchor="ctr"/>
          <a:lstStyle/>
          <a:p>
            <a:pPr marL="0" indent="0">
              <a:buNone/>
            </a:pPr>
            <a:r>
              <a:rPr lang="en-US" sz="1200" b="1" dirty="0">
                <a:solidFill>
                  <a:srgbClr val="1E4028"/>
                </a:solidFill>
                <a:latin typeface="Calibri" pitchFamily="34" charset="0"/>
                <a:ea typeface="Calibri" pitchFamily="34" charset="-122"/>
                <a:cs typeface="Calibri" pitchFamily="34" charset="-120"/>
              </a:rPr>
              <a:t>For each criterion, in order:</a:t>
            </a:r>
            <a:endParaRPr lang="en-US" sz="1200" dirty="0"/>
          </a:p>
        </p:txBody>
      </p:sp>
      <p:sp>
        <p:nvSpPr>
          <p:cNvPr id="10" name="Text 8"/>
          <p:cNvSpPr/>
          <p:nvPr/>
        </p:nvSpPr>
        <p:spPr>
          <a:xfrm>
            <a:off x="1554480" y="2450592"/>
            <a:ext cx="6035040" cy="548640"/>
          </a:xfrm>
          <a:prstGeom prst="rect">
            <a:avLst/>
          </a:prstGeom>
          <a:noFill/>
          <a:ln/>
        </p:spPr>
        <p:txBody>
          <a:bodyPr wrap="square" lIns="0" tIns="0" rIns="0" bIns="0" rtlCol="0" anchor="ctr"/>
          <a:lstStyle/>
          <a:p>
            <a:pPr marL="0" indent="0">
              <a:buNone/>
            </a:pPr>
            <a:r>
              <a:rPr lang="en-US" sz="1150" dirty="0">
                <a:solidFill>
                  <a:srgbClr val="1E4028"/>
                </a:solidFill>
                <a:latin typeface="Calibri" pitchFamily="34" charset="0"/>
                <a:ea typeface="Calibri" pitchFamily="34" charset="-122"/>
                <a:cs typeface="Calibri" pitchFamily="34" charset="-120"/>
              </a:rPr>
              <a:t>check the PASS condition  →  record pass/fail + a one-line reason  →  never stop at the first failure</a:t>
            </a:r>
            <a:endParaRPr lang="en-US" sz="1150" dirty="0"/>
          </a:p>
        </p:txBody>
      </p:sp>
      <p:sp>
        <p:nvSpPr>
          <p:cNvPr id="11" name="Shape 9"/>
          <p:cNvSpPr/>
          <p:nvPr/>
        </p:nvSpPr>
        <p:spPr>
          <a:xfrm>
            <a:off x="7452360" y="2148840"/>
            <a:ext cx="822960" cy="868680"/>
          </a:xfrm>
          <a:prstGeom prst="ellipse">
            <a:avLst/>
          </a:prstGeom>
          <a:ln w="25400">
            <a:solidFill>
              <a:srgbClr val="1E4028"/>
            </a:solidFill>
            <a:prstDash val="dash"/>
          </a:ln>
        </p:spPr>
        <p:txBody>
          <a:bodyPr/>
          <a:lstStyle/>
          <a:p>
            <a:endParaRPr lang="en-US"/>
          </a:p>
        </p:txBody>
      </p:sp>
      <p:sp>
        <p:nvSpPr>
          <p:cNvPr id="12" name="Text 10"/>
          <p:cNvSpPr/>
          <p:nvPr/>
        </p:nvSpPr>
        <p:spPr>
          <a:xfrm>
            <a:off x="7452360" y="2148840"/>
            <a:ext cx="822960" cy="868680"/>
          </a:xfrm>
          <a:prstGeom prst="rect">
            <a:avLst/>
          </a:prstGeom>
          <a:noFill/>
          <a:ln/>
        </p:spPr>
        <p:txBody>
          <a:bodyPr wrap="square" lIns="0" tIns="0" rIns="0" bIns="0" rtlCol="0" anchor="ctr"/>
          <a:lstStyle/>
          <a:p>
            <a:pPr marL="0" indent="0" algn="ctr">
              <a:buNone/>
            </a:pPr>
            <a:r>
              <a:rPr lang="en-US" sz="750" i="1" dirty="0">
                <a:solidFill>
                  <a:srgbClr val="1E4028"/>
                </a:solidFill>
                <a:latin typeface="Calibri" pitchFamily="34" charset="0"/>
                <a:ea typeface="Calibri" pitchFamily="34" charset="-122"/>
                <a:cs typeface="Calibri" pitchFamily="34" charset="-120"/>
              </a:rPr>
              <a:t>repeat for</a:t>
            </a:r>
            <a:endParaRPr lang="en-US" sz="750" dirty="0"/>
          </a:p>
          <a:p>
            <a:pPr marL="0" indent="0" algn="ctr">
              <a:buNone/>
            </a:pPr>
            <a:r>
              <a:rPr lang="en-US" sz="750" i="1" dirty="0">
                <a:solidFill>
                  <a:srgbClr val="1E4028"/>
                </a:solidFill>
                <a:latin typeface="Calibri" pitchFamily="34" charset="0"/>
                <a:ea typeface="Calibri" pitchFamily="34" charset="-122"/>
                <a:cs typeface="Calibri" pitchFamily="34" charset="-120"/>
              </a:rPr>
              <a:t>every criterion</a:t>
            </a:r>
            <a:endParaRPr lang="en-US" sz="750" dirty="0"/>
          </a:p>
        </p:txBody>
      </p:sp>
      <p:sp>
        <p:nvSpPr>
          <p:cNvPr id="13" name="Shape 11"/>
          <p:cNvSpPr/>
          <p:nvPr/>
        </p:nvSpPr>
        <p:spPr>
          <a:xfrm>
            <a:off x="4498848" y="3200400"/>
            <a:ext cx="146304" cy="201168"/>
          </a:xfrm>
          <a:prstGeom prst="downArrow">
            <a:avLst/>
          </a:prstGeom>
          <a:solidFill>
            <a:srgbClr val="1E4028"/>
          </a:solidFill>
          <a:ln w="12700">
            <a:solidFill>
              <a:srgbClr val="1E4028"/>
            </a:solidFill>
            <a:prstDash val="solid"/>
          </a:ln>
        </p:spPr>
        <p:txBody>
          <a:bodyPr/>
          <a:lstStyle/>
          <a:p>
            <a:endParaRPr lang="en-US"/>
          </a:p>
        </p:txBody>
      </p:sp>
      <p:sp>
        <p:nvSpPr>
          <p:cNvPr id="14" name="Shape 12"/>
          <p:cNvSpPr/>
          <p:nvPr/>
        </p:nvSpPr>
        <p:spPr>
          <a:xfrm>
            <a:off x="1371600" y="3474720"/>
            <a:ext cx="6400800" cy="566928"/>
          </a:xfrm>
          <a:prstGeom prst="roundRect">
            <a:avLst>
              <a:gd name="adj" fmla="val 9677"/>
            </a:avLst>
          </a:prstGeom>
          <a:solidFill>
            <a:srgbClr val="FFFFFF"/>
          </a:solidFill>
          <a:ln w="12700">
            <a:solidFill>
              <a:srgbClr val="FFFFFF"/>
            </a:solidFill>
            <a:prstDash val="solid"/>
          </a:ln>
          <a:effectLst>
            <a:outerShdw blurRad="76200" dist="25400" dir="2700000" algn="bl" rotWithShape="0">
              <a:srgbClr val="000000">
                <a:alpha val="12000"/>
              </a:srgbClr>
            </a:outerShdw>
          </a:effectLst>
        </p:spPr>
        <p:txBody>
          <a:bodyPr/>
          <a:lstStyle/>
          <a:p>
            <a:endParaRPr lang="en-US"/>
          </a:p>
        </p:txBody>
      </p:sp>
      <p:sp>
        <p:nvSpPr>
          <p:cNvPr id="15" name="Text 13"/>
          <p:cNvSpPr/>
          <p:nvPr/>
        </p:nvSpPr>
        <p:spPr>
          <a:xfrm>
            <a:off x="1554480" y="3474720"/>
            <a:ext cx="6035040" cy="566928"/>
          </a:xfrm>
          <a:prstGeom prst="rect">
            <a:avLst/>
          </a:prstGeom>
          <a:noFill/>
          <a:ln/>
        </p:spPr>
        <p:txBody>
          <a:bodyPr wrap="square" lIns="0" tIns="0" rIns="0" bIns="0" rtlCol="0" anchor="ctr"/>
          <a:lstStyle/>
          <a:p>
            <a:pPr marL="0" indent="0">
              <a:buNone/>
            </a:pPr>
            <a:r>
              <a:rPr lang="en-US" sz="1200" b="1" dirty="0">
                <a:solidFill>
                  <a:srgbClr val="1E4028"/>
                </a:solidFill>
                <a:latin typeface="Calibri" pitchFamily="34" charset="0"/>
                <a:ea typeface="Calibri" pitchFamily="34" charset="-122"/>
                <a:cs typeface="Calibri" pitchFamily="34" charset="-120"/>
              </a:rPr>
              <a:t>Collect every criterion that failed</a:t>
            </a:r>
            <a:endParaRPr lang="en-US" sz="1200" dirty="0"/>
          </a:p>
        </p:txBody>
      </p:sp>
      <p:sp>
        <p:nvSpPr>
          <p:cNvPr id="16" name="Shape 14"/>
          <p:cNvSpPr/>
          <p:nvPr/>
        </p:nvSpPr>
        <p:spPr>
          <a:xfrm>
            <a:off x="4498848" y="4114800"/>
            <a:ext cx="146304" cy="201168"/>
          </a:xfrm>
          <a:prstGeom prst="downArrow">
            <a:avLst/>
          </a:prstGeom>
          <a:solidFill>
            <a:srgbClr val="1E4028"/>
          </a:solidFill>
          <a:ln w="12700">
            <a:solidFill>
              <a:srgbClr val="1E4028"/>
            </a:solidFill>
            <a:prstDash val="solid"/>
          </a:ln>
        </p:spPr>
        <p:txBody>
          <a:bodyPr/>
          <a:lstStyle/>
          <a:p>
            <a:endParaRPr lang="en-US"/>
          </a:p>
        </p:txBody>
      </p:sp>
      <p:sp>
        <p:nvSpPr>
          <p:cNvPr id="17" name="Shape 15"/>
          <p:cNvSpPr/>
          <p:nvPr/>
        </p:nvSpPr>
        <p:spPr>
          <a:xfrm>
            <a:off x="1371600" y="4389120"/>
            <a:ext cx="3063240" cy="594360"/>
          </a:xfrm>
          <a:prstGeom prst="roundRect">
            <a:avLst>
              <a:gd name="adj" fmla="val 9231"/>
            </a:avLst>
          </a:prstGeom>
          <a:solidFill>
            <a:srgbClr val="2E5E3B"/>
          </a:solidFill>
          <a:ln w="12700">
            <a:solidFill>
              <a:srgbClr val="FFFFFF"/>
            </a:solidFill>
            <a:prstDash val="solid"/>
          </a:ln>
          <a:effectLst>
            <a:outerShdw blurRad="76200" dist="25400" dir="2700000" algn="bl" rotWithShape="0">
              <a:srgbClr val="000000">
                <a:alpha val="12000"/>
              </a:srgbClr>
            </a:outerShdw>
          </a:effectLst>
        </p:spPr>
        <p:txBody>
          <a:bodyPr/>
          <a:lstStyle/>
          <a:p>
            <a:endParaRPr lang="en-US"/>
          </a:p>
        </p:txBody>
      </p:sp>
      <p:sp>
        <p:nvSpPr>
          <p:cNvPr id="18" name="Text 16"/>
          <p:cNvSpPr/>
          <p:nvPr/>
        </p:nvSpPr>
        <p:spPr>
          <a:xfrm>
            <a:off x="1508760" y="4389120"/>
            <a:ext cx="2788920" cy="59436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Any criterion failed?</a:t>
            </a:r>
            <a:endParaRPr lang="en-US" sz="1050" dirty="0"/>
          </a:p>
          <a:p>
            <a:pPr marL="0" indent="0">
              <a:buNone/>
            </a:pPr>
            <a:r>
              <a:rPr lang="en-US" sz="1050" b="1" dirty="0">
                <a:solidFill>
                  <a:srgbClr val="FFFFFF"/>
                </a:solidFill>
                <a:latin typeface="Calibri" pitchFamily="34" charset="0"/>
                <a:ea typeface="Calibri" pitchFamily="34" charset="-122"/>
                <a:cs typeface="Calibri" pitchFamily="34" charset="-120"/>
              </a:rPr>
              <a:t>→ Verdict: FAIL</a:t>
            </a:r>
            <a:endParaRPr lang="en-US" sz="1050" dirty="0"/>
          </a:p>
        </p:txBody>
      </p:sp>
      <p:sp>
        <p:nvSpPr>
          <p:cNvPr id="19" name="Shape 17"/>
          <p:cNvSpPr/>
          <p:nvPr/>
        </p:nvSpPr>
        <p:spPr>
          <a:xfrm>
            <a:off x="4709160" y="4389120"/>
            <a:ext cx="3063240" cy="594360"/>
          </a:xfrm>
          <a:prstGeom prst="roundRect">
            <a:avLst>
              <a:gd name="adj" fmla="val 9231"/>
            </a:avLst>
          </a:prstGeom>
          <a:solidFill>
            <a:srgbClr val="2E5E3B"/>
          </a:solidFill>
          <a:ln w="12700">
            <a:solidFill>
              <a:srgbClr val="FFFFFF"/>
            </a:solidFill>
            <a:prstDash val="solid"/>
          </a:ln>
          <a:effectLst>
            <a:outerShdw blurRad="76200" dist="25400" dir="2700000" algn="bl" rotWithShape="0">
              <a:srgbClr val="000000">
                <a:alpha val="12000"/>
              </a:srgbClr>
            </a:outerShdw>
          </a:effectLst>
        </p:spPr>
        <p:txBody>
          <a:bodyPr/>
          <a:lstStyle/>
          <a:p>
            <a:endParaRPr lang="en-US"/>
          </a:p>
        </p:txBody>
      </p:sp>
      <p:sp>
        <p:nvSpPr>
          <p:cNvPr id="20" name="Text 18"/>
          <p:cNvSpPr/>
          <p:nvPr/>
        </p:nvSpPr>
        <p:spPr>
          <a:xfrm>
            <a:off x="4846320" y="4389120"/>
            <a:ext cx="2788920" cy="59436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All criteria passed?</a:t>
            </a:r>
            <a:endParaRPr lang="en-US" sz="1050" dirty="0"/>
          </a:p>
          <a:p>
            <a:pPr marL="0" indent="0">
              <a:buNone/>
            </a:pPr>
            <a:r>
              <a:rPr lang="en-US" sz="1050" b="1" dirty="0">
                <a:solidFill>
                  <a:srgbClr val="FFFFFF"/>
                </a:solidFill>
                <a:latin typeface="Calibri" pitchFamily="34" charset="0"/>
                <a:ea typeface="Calibri" pitchFamily="34" charset="-122"/>
                <a:cs typeface="Calibri" pitchFamily="34" charset="-120"/>
              </a:rPr>
              <a:t>→ Verdict: PASS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3E2DE"/>
        </a:solidFill>
        <a:effectLst/>
      </p:bgPr>
    </p:bg>
    <p:spTree>
      <p:nvGrpSpPr>
        <p:cNvPr id="1" name=""/>
        <p:cNvGrpSpPr/>
        <p:nvPr/>
      </p:nvGrpSpPr>
      <p:grpSpPr>
        <a:xfrm>
          <a:off x="0" y="0"/>
          <a:ext cx="0" cy="0"/>
          <a:chOff x="0" y="0"/>
          <a:chExt cx="0" cy="0"/>
        </a:xfrm>
      </p:grpSpPr>
      <p:sp>
        <p:nvSpPr>
          <p:cNvPr id="2" name="Text 0"/>
          <p:cNvSpPr/>
          <p:nvPr/>
        </p:nvSpPr>
        <p:spPr>
          <a:xfrm>
            <a:off x="457200" y="256032"/>
            <a:ext cx="6400800" cy="274320"/>
          </a:xfrm>
          <a:prstGeom prst="rect">
            <a:avLst/>
          </a:prstGeom>
          <a:noFill/>
          <a:ln/>
        </p:spPr>
        <p:txBody>
          <a:bodyPr wrap="square" lIns="0" tIns="0" rIns="0" bIns="0" rtlCol="0" anchor="ctr"/>
          <a:lstStyle/>
          <a:p>
            <a:pPr marL="0" indent="0">
              <a:buNone/>
            </a:pPr>
            <a:r>
              <a:rPr lang="en-US" sz="1100" b="1" kern="0" spc="200" dirty="0">
                <a:solidFill>
                  <a:srgbClr val="2E5E3B"/>
                </a:solidFill>
                <a:latin typeface="Calibri" pitchFamily="34" charset="0"/>
                <a:ea typeface="Calibri" pitchFamily="34" charset="-122"/>
                <a:cs typeface="Calibri" pitchFamily="34" charset="-120"/>
              </a:rPr>
              <a:t>EVALUATION</a:t>
            </a:r>
            <a:endParaRPr lang="en-US" sz="1100" dirty="0"/>
          </a:p>
        </p:txBody>
      </p:sp>
      <p:sp>
        <p:nvSpPr>
          <p:cNvPr id="3" name="Text 1"/>
          <p:cNvSpPr/>
          <p:nvPr/>
        </p:nvSpPr>
        <p:spPr>
          <a:xfrm>
            <a:off x="457200" y="502920"/>
            <a:ext cx="8229600" cy="548640"/>
          </a:xfrm>
          <a:prstGeom prst="rect">
            <a:avLst/>
          </a:prstGeom>
          <a:noFill/>
          <a:ln/>
        </p:spPr>
        <p:txBody>
          <a:bodyPr wrap="square" lIns="0" tIns="0" rIns="0" bIns="0" rtlCol="0" anchor="ctr"/>
          <a:lstStyle/>
          <a:p>
            <a:pPr marL="0" indent="0">
              <a:buNone/>
            </a:pPr>
            <a:r>
              <a:rPr lang="en-US" sz="2600" b="1" dirty="0">
                <a:solidFill>
                  <a:srgbClr val="1E4028"/>
                </a:solidFill>
                <a:latin typeface="Cambria" pitchFamily="34" charset="0"/>
                <a:ea typeface="Cambria" pitchFamily="34" charset="-122"/>
                <a:cs typeface="Cambria" pitchFamily="34" charset="-120"/>
              </a:rPr>
              <a:t>The SAA Evaluation Pipeline</a:t>
            </a:r>
            <a:endParaRPr lang="en-US" sz="2600" dirty="0"/>
          </a:p>
        </p:txBody>
      </p:sp>
      <p:sp>
        <p:nvSpPr>
          <p:cNvPr id="4" name="Text 2"/>
          <p:cNvSpPr/>
          <p:nvPr/>
        </p:nvSpPr>
        <p:spPr>
          <a:xfrm>
            <a:off x="8732520" y="4846320"/>
            <a:ext cx="365760" cy="256032"/>
          </a:xfrm>
          <a:prstGeom prst="rect">
            <a:avLst/>
          </a:prstGeom>
          <a:noFill/>
          <a:ln/>
        </p:spPr>
        <p:txBody>
          <a:bodyPr wrap="square" lIns="0" tIns="0" rIns="0" bIns="0" rtlCol="0" anchor="ctr"/>
          <a:lstStyle/>
          <a:p>
            <a:pPr marL="0" indent="0" algn="r">
              <a:buNone/>
            </a:pPr>
            <a:r>
              <a:rPr lang="en-US" sz="1000" dirty="0">
                <a:solidFill>
                  <a:srgbClr val="5B6B60"/>
                </a:solidFill>
                <a:latin typeface="Calibri" pitchFamily="34" charset="0"/>
                <a:ea typeface="Calibri" pitchFamily="34" charset="-122"/>
                <a:cs typeface="Calibri" pitchFamily="34" charset="-120"/>
              </a:rPr>
              <a:t>9</a:t>
            </a:r>
            <a:endParaRPr lang="en-US" sz="1000" dirty="0"/>
          </a:p>
        </p:txBody>
      </p:sp>
      <p:sp>
        <p:nvSpPr>
          <p:cNvPr id="5" name="Shape 3"/>
          <p:cNvSpPr/>
          <p:nvPr/>
        </p:nvSpPr>
        <p:spPr>
          <a:xfrm>
            <a:off x="365760" y="1737360"/>
            <a:ext cx="1188720" cy="1371600"/>
          </a:xfrm>
          <a:prstGeom prst="roundRect">
            <a:avLst>
              <a:gd name="adj" fmla="val 4615"/>
            </a:avLst>
          </a:prstGeom>
          <a:solidFill>
            <a:srgbClr val="2E5E3B"/>
          </a:solidFill>
          <a:ln w="12700">
            <a:solidFill>
              <a:srgbClr val="FFFFFF"/>
            </a:solidFill>
            <a:prstDash val="solid"/>
          </a:ln>
          <a:effectLst>
            <a:outerShdw blurRad="76200" dist="25400" dir="2700000" algn="bl" rotWithShape="0">
              <a:srgbClr val="000000">
                <a:alpha val="12000"/>
              </a:srgbClr>
            </a:outerShdw>
          </a:effectLst>
        </p:spPr>
        <p:txBody>
          <a:bodyPr/>
          <a:lstStyle/>
          <a:p>
            <a:endParaRPr lang="en-US"/>
          </a:p>
        </p:txBody>
      </p:sp>
      <p:sp>
        <p:nvSpPr>
          <p:cNvPr id="6" name="Text 4"/>
          <p:cNvSpPr/>
          <p:nvPr/>
        </p:nvSpPr>
        <p:spPr>
          <a:xfrm>
            <a:off x="420624" y="1737360"/>
            <a:ext cx="1078992" cy="1371600"/>
          </a:xfrm>
          <a:prstGeom prst="rect">
            <a:avLst/>
          </a:prstGeom>
          <a:noFill/>
          <a:ln/>
        </p:spPr>
        <p:txBody>
          <a:bodyPr wrap="square" lIns="25400" tIns="25400" rIns="25400" bIns="2540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Versioned Rubric</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 Prompt +</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Example Set</a:t>
            </a:r>
            <a:endParaRPr lang="en-US" sz="1050" dirty="0"/>
          </a:p>
        </p:txBody>
      </p:sp>
      <p:sp>
        <p:nvSpPr>
          <p:cNvPr id="7" name="Shape 5"/>
          <p:cNvSpPr/>
          <p:nvPr/>
        </p:nvSpPr>
        <p:spPr>
          <a:xfrm>
            <a:off x="1554480" y="2340864"/>
            <a:ext cx="237744" cy="164592"/>
          </a:xfrm>
          <a:prstGeom prst="rightArrow">
            <a:avLst/>
          </a:prstGeom>
          <a:solidFill>
            <a:srgbClr val="1E4028"/>
          </a:solidFill>
          <a:ln w="12700">
            <a:solidFill>
              <a:srgbClr val="1E4028"/>
            </a:solidFill>
            <a:prstDash val="solid"/>
          </a:ln>
        </p:spPr>
        <p:txBody>
          <a:bodyPr/>
          <a:lstStyle/>
          <a:p>
            <a:endParaRPr lang="en-US"/>
          </a:p>
        </p:txBody>
      </p:sp>
      <p:sp>
        <p:nvSpPr>
          <p:cNvPr id="8" name="Shape 6"/>
          <p:cNvSpPr/>
          <p:nvPr/>
        </p:nvSpPr>
        <p:spPr>
          <a:xfrm>
            <a:off x="1810512" y="1737360"/>
            <a:ext cx="1188720" cy="1371600"/>
          </a:xfrm>
          <a:prstGeom prst="roundRect">
            <a:avLst>
              <a:gd name="adj" fmla="val 4615"/>
            </a:avLst>
          </a:prstGeom>
          <a:solidFill>
            <a:srgbClr val="2E5E3B"/>
          </a:solidFill>
          <a:ln w="12700">
            <a:solidFill>
              <a:srgbClr val="FFFFFF"/>
            </a:solidFill>
            <a:prstDash val="solid"/>
          </a:ln>
          <a:effectLst>
            <a:outerShdw blurRad="76200" dist="25400" dir="2700000" algn="bl" rotWithShape="0">
              <a:srgbClr val="000000">
                <a:alpha val="12000"/>
              </a:srgbClr>
            </a:outerShdw>
          </a:effectLst>
        </p:spPr>
        <p:txBody>
          <a:bodyPr/>
          <a:lstStyle/>
          <a:p>
            <a:endParaRPr lang="en-US"/>
          </a:p>
        </p:txBody>
      </p:sp>
      <p:sp>
        <p:nvSpPr>
          <p:cNvPr id="9" name="Text 7"/>
          <p:cNvSpPr/>
          <p:nvPr/>
        </p:nvSpPr>
        <p:spPr>
          <a:xfrm>
            <a:off x="1865376" y="1737360"/>
            <a:ext cx="1078992" cy="1371600"/>
          </a:xfrm>
          <a:prstGeom prst="rect">
            <a:avLst/>
          </a:prstGeom>
          <a:noFill/>
          <a:ln/>
        </p:spPr>
        <p:txBody>
          <a:bodyPr wrap="square" lIns="25400" tIns="25400" rIns="25400" bIns="2540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Assessment Agent</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builds the</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prompt</a:t>
            </a:r>
            <a:endParaRPr lang="en-US" sz="1050" dirty="0"/>
          </a:p>
        </p:txBody>
      </p:sp>
      <p:sp>
        <p:nvSpPr>
          <p:cNvPr id="10" name="Shape 8"/>
          <p:cNvSpPr/>
          <p:nvPr/>
        </p:nvSpPr>
        <p:spPr>
          <a:xfrm>
            <a:off x="2999232" y="2340864"/>
            <a:ext cx="237744" cy="164592"/>
          </a:xfrm>
          <a:prstGeom prst="rightArrow">
            <a:avLst/>
          </a:prstGeom>
          <a:solidFill>
            <a:srgbClr val="1E4028"/>
          </a:solidFill>
          <a:ln w="12700">
            <a:solidFill>
              <a:srgbClr val="1E4028"/>
            </a:solidFill>
            <a:prstDash val="solid"/>
          </a:ln>
        </p:spPr>
        <p:txBody>
          <a:bodyPr/>
          <a:lstStyle/>
          <a:p>
            <a:endParaRPr lang="en-US"/>
          </a:p>
        </p:txBody>
      </p:sp>
      <p:sp>
        <p:nvSpPr>
          <p:cNvPr id="11" name="Shape 9"/>
          <p:cNvSpPr/>
          <p:nvPr/>
        </p:nvSpPr>
        <p:spPr>
          <a:xfrm>
            <a:off x="3255264" y="1737360"/>
            <a:ext cx="1188720" cy="1371600"/>
          </a:xfrm>
          <a:prstGeom prst="roundRect">
            <a:avLst>
              <a:gd name="adj" fmla="val 4615"/>
            </a:avLst>
          </a:prstGeom>
          <a:solidFill>
            <a:srgbClr val="2E5E3B"/>
          </a:solidFill>
          <a:ln w="12700">
            <a:solidFill>
              <a:srgbClr val="FFFFFF"/>
            </a:solidFill>
            <a:prstDash val="solid"/>
          </a:ln>
          <a:effectLst>
            <a:outerShdw blurRad="76200" dist="25400" dir="2700000" algn="bl" rotWithShape="0">
              <a:srgbClr val="000000">
                <a:alpha val="12000"/>
              </a:srgbClr>
            </a:outerShdw>
          </a:effectLst>
        </p:spPr>
        <p:txBody>
          <a:bodyPr/>
          <a:lstStyle/>
          <a:p>
            <a:endParaRPr lang="en-US"/>
          </a:p>
        </p:txBody>
      </p:sp>
      <p:sp>
        <p:nvSpPr>
          <p:cNvPr id="12" name="Text 10"/>
          <p:cNvSpPr/>
          <p:nvPr/>
        </p:nvSpPr>
        <p:spPr>
          <a:xfrm>
            <a:off x="3310128" y="1737360"/>
            <a:ext cx="1078992" cy="1371600"/>
          </a:xfrm>
          <a:prstGeom prst="rect">
            <a:avLst/>
          </a:prstGeom>
          <a:noFill/>
          <a:ln/>
        </p:spPr>
        <p:txBody>
          <a:bodyPr wrap="square" lIns="25400" tIns="25400" rIns="25400" bIns="2540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LLM</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(Gemini)</a:t>
            </a:r>
            <a:endParaRPr lang="en-US" sz="1050" dirty="0"/>
          </a:p>
        </p:txBody>
      </p:sp>
      <p:sp>
        <p:nvSpPr>
          <p:cNvPr id="13" name="Shape 11"/>
          <p:cNvSpPr/>
          <p:nvPr/>
        </p:nvSpPr>
        <p:spPr>
          <a:xfrm>
            <a:off x="4443984" y="2340864"/>
            <a:ext cx="237744" cy="164592"/>
          </a:xfrm>
          <a:prstGeom prst="rightArrow">
            <a:avLst/>
          </a:prstGeom>
          <a:solidFill>
            <a:srgbClr val="1E4028"/>
          </a:solidFill>
          <a:ln w="12700">
            <a:solidFill>
              <a:srgbClr val="1E4028"/>
            </a:solidFill>
            <a:prstDash val="solid"/>
          </a:ln>
        </p:spPr>
        <p:txBody>
          <a:bodyPr/>
          <a:lstStyle/>
          <a:p>
            <a:endParaRPr lang="en-US"/>
          </a:p>
        </p:txBody>
      </p:sp>
      <p:sp>
        <p:nvSpPr>
          <p:cNvPr id="14" name="Shape 12"/>
          <p:cNvSpPr/>
          <p:nvPr/>
        </p:nvSpPr>
        <p:spPr>
          <a:xfrm>
            <a:off x="4700016" y="1737360"/>
            <a:ext cx="1188720" cy="1371600"/>
          </a:xfrm>
          <a:prstGeom prst="roundRect">
            <a:avLst>
              <a:gd name="adj" fmla="val 4615"/>
            </a:avLst>
          </a:prstGeom>
          <a:solidFill>
            <a:srgbClr val="2E5E3B"/>
          </a:solidFill>
          <a:ln w="12700">
            <a:solidFill>
              <a:srgbClr val="FFFFFF"/>
            </a:solidFill>
            <a:prstDash val="solid"/>
          </a:ln>
          <a:effectLst>
            <a:outerShdw blurRad="76200" dist="25400" dir="2700000" algn="bl" rotWithShape="0">
              <a:srgbClr val="000000">
                <a:alpha val="12000"/>
              </a:srgbClr>
            </a:outerShdw>
          </a:effectLst>
        </p:spPr>
        <p:txBody>
          <a:bodyPr/>
          <a:lstStyle/>
          <a:p>
            <a:endParaRPr lang="en-US"/>
          </a:p>
        </p:txBody>
      </p:sp>
      <p:sp>
        <p:nvSpPr>
          <p:cNvPr id="15" name="Text 13"/>
          <p:cNvSpPr/>
          <p:nvPr/>
        </p:nvSpPr>
        <p:spPr>
          <a:xfrm>
            <a:off x="4754880" y="1737360"/>
            <a:ext cx="1078992" cy="1371600"/>
          </a:xfrm>
          <a:prstGeom prst="rect">
            <a:avLst/>
          </a:prstGeom>
          <a:noFill/>
          <a:ln/>
        </p:spPr>
        <p:txBody>
          <a:bodyPr wrap="square" lIns="25400" tIns="25400" rIns="25400" bIns="2540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Derive verdict</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in code</a:t>
            </a:r>
            <a:endParaRPr lang="en-US" sz="1050" dirty="0"/>
          </a:p>
        </p:txBody>
      </p:sp>
      <p:sp>
        <p:nvSpPr>
          <p:cNvPr id="16" name="Shape 14"/>
          <p:cNvSpPr/>
          <p:nvPr/>
        </p:nvSpPr>
        <p:spPr>
          <a:xfrm>
            <a:off x="5888736" y="2340864"/>
            <a:ext cx="237744" cy="164592"/>
          </a:xfrm>
          <a:prstGeom prst="rightArrow">
            <a:avLst/>
          </a:prstGeom>
          <a:solidFill>
            <a:srgbClr val="1E4028"/>
          </a:solidFill>
          <a:ln w="12700">
            <a:solidFill>
              <a:srgbClr val="1E4028"/>
            </a:solidFill>
            <a:prstDash val="solid"/>
          </a:ln>
        </p:spPr>
        <p:txBody>
          <a:bodyPr/>
          <a:lstStyle/>
          <a:p>
            <a:endParaRPr lang="en-US"/>
          </a:p>
        </p:txBody>
      </p:sp>
      <p:sp>
        <p:nvSpPr>
          <p:cNvPr id="17" name="Shape 15"/>
          <p:cNvSpPr/>
          <p:nvPr/>
        </p:nvSpPr>
        <p:spPr>
          <a:xfrm>
            <a:off x="6144768" y="1737360"/>
            <a:ext cx="1188720" cy="1371600"/>
          </a:xfrm>
          <a:prstGeom prst="roundRect">
            <a:avLst>
              <a:gd name="adj" fmla="val 4615"/>
            </a:avLst>
          </a:prstGeom>
          <a:solidFill>
            <a:srgbClr val="2E5E3B"/>
          </a:solidFill>
          <a:ln w="12700">
            <a:solidFill>
              <a:srgbClr val="FFFFFF"/>
            </a:solidFill>
            <a:prstDash val="solid"/>
          </a:ln>
          <a:effectLst>
            <a:outerShdw blurRad="76200" dist="25400" dir="2700000" algn="bl" rotWithShape="0">
              <a:srgbClr val="000000">
                <a:alpha val="12000"/>
              </a:srgbClr>
            </a:outerShdw>
          </a:effectLst>
        </p:spPr>
        <p:txBody>
          <a:bodyPr/>
          <a:lstStyle/>
          <a:p>
            <a:endParaRPr lang="en-US"/>
          </a:p>
        </p:txBody>
      </p:sp>
      <p:sp>
        <p:nvSpPr>
          <p:cNvPr id="18" name="Text 16"/>
          <p:cNvSpPr/>
          <p:nvPr/>
        </p:nvSpPr>
        <p:spPr>
          <a:xfrm>
            <a:off x="6199632" y="1737360"/>
            <a:ext cx="1078992" cy="1371600"/>
          </a:xfrm>
          <a:prstGeom prst="rect">
            <a:avLst/>
          </a:prstGeom>
          <a:noFill/>
          <a:ln/>
        </p:spPr>
        <p:txBody>
          <a:bodyPr wrap="square" lIns="25400" tIns="25400" rIns="25400" bIns="2540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Compare vs.</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human labels</a:t>
            </a:r>
            <a:endParaRPr lang="en-US" sz="1050" dirty="0"/>
          </a:p>
        </p:txBody>
      </p:sp>
      <p:sp>
        <p:nvSpPr>
          <p:cNvPr id="19" name="Shape 17"/>
          <p:cNvSpPr/>
          <p:nvPr/>
        </p:nvSpPr>
        <p:spPr>
          <a:xfrm>
            <a:off x="7333488" y="2340864"/>
            <a:ext cx="237744" cy="164592"/>
          </a:xfrm>
          <a:prstGeom prst="rightArrow">
            <a:avLst/>
          </a:prstGeom>
          <a:solidFill>
            <a:srgbClr val="1E4028"/>
          </a:solidFill>
          <a:ln w="12700">
            <a:solidFill>
              <a:srgbClr val="1E4028"/>
            </a:solidFill>
            <a:prstDash val="solid"/>
          </a:ln>
        </p:spPr>
        <p:txBody>
          <a:bodyPr/>
          <a:lstStyle/>
          <a:p>
            <a:endParaRPr lang="en-US"/>
          </a:p>
        </p:txBody>
      </p:sp>
      <p:sp>
        <p:nvSpPr>
          <p:cNvPr id="20" name="Shape 18"/>
          <p:cNvSpPr/>
          <p:nvPr/>
        </p:nvSpPr>
        <p:spPr>
          <a:xfrm>
            <a:off x="7589520" y="1737360"/>
            <a:ext cx="1188720" cy="1371600"/>
          </a:xfrm>
          <a:prstGeom prst="roundRect">
            <a:avLst>
              <a:gd name="adj" fmla="val 4615"/>
            </a:avLst>
          </a:prstGeom>
          <a:solidFill>
            <a:srgbClr val="2E5E3B"/>
          </a:solidFill>
          <a:ln w="12700">
            <a:solidFill>
              <a:srgbClr val="FFFFFF"/>
            </a:solidFill>
            <a:prstDash val="solid"/>
          </a:ln>
          <a:effectLst>
            <a:outerShdw blurRad="76200" dist="25400" dir="2700000" algn="bl" rotWithShape="0">
              <a:srgbClr val="000000">
                <a:alpha val="12000"/>
              </a:srgbClr>
            </a:outerShdw>
          </a:effectLst>
        </p:spPr>
        <p:txBody>
          <a:bodyPr/>
          <a:lstStyle/>
          <a:p>
            <a:endParaRPr lang="en-US"/>
          </a:p>
        </p:txBody>
      </p:sp>
      <p:sp>
        <p:nvSpPr>
          <p:cNvPr id="21" name="Text 19"/>
          <p:cNvSpPr/>
          <p:nvPr/>
        </p:nvSpPr>
        <p:spPr>
          <a:xfrm>
            <a:off x="7644384" y="1737360"/>
            <a:ext cx="1078992" cy="1371600"/>
          </a:xfrm>
          <a:prstGeom prst="rect">
            <a:avLst/>
          </a:prstGeom>
          <a:noFill/>
          <a:ln/>
        </p:spPr>
        <p:txBody>
          <a:bodyPr wrap="square" lIns="25400" tIns="25400" rIns="25400" bIns="2540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Report +</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results log</a:t>
            </a:r>
            <a:endParaRPr lang="en-US" sz="1050" dirty="0"/>
          </a:p>
        </p:txBody>
      </p:sp>
      <p:sp>
        <p:nvSpPr>
          <p:cNvPr id="22" name="Shape 20"/>
          <p:cNvSpPr/>
          <p:nvPr/>
        </p:nvSpPr>
        <p:spPr>
          <a:xfrm>
            <a:off x="457200" y="3429000"/>
            <a:ext cx="8229600" cy="1234440"/>
          </a:xfrm>
          <a:prstGeom prst="roundRect">
            <a:avLst>
              <a:gd name="adj" fmla="val 4444"/>
            </a:avLst>
          </a:prstGeom>
          <a:solidFill>
            <a:srgbClr val="EFEEE9"/>
          </a:solidFill>
          <a:ln w="12700">
            <a:solidFill>
              <a:srgbClr val="FFFFFF"/>
            </a:solidFill>
            <a:prstDash val="solid"/>
          </a:ln>
        </p:spPr>
        <p:txBody>
          <a:bodyPr/>
          <a:lstStyle/>
          <a:p>
            <a:endParaRPr lang="en-US"/>
          </a:p>
        </p:txBody>
      </p:sp>
      <p:sp>
        <p:nvSpPr>
          <p:cNvPr id="23" name="Text 21"/>
          <p:cNvSpPr/>
          <p:nvPr/>
        </p:nvSpPr>
        <p:spPr>
          <a:xfrm>
            <a:off x="640080" y="3566160"/>
            <a:ext cx="7863840" cy="100584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Every run stamps the exact prompt / rubric / example-set version it used — full reproducibility.</a:t>
            </a:r>
            <a:endParaRPr lang="en-US" sz="1200" dirty="0"/>
          </a:p>
          <a:p>
            <a:pPr marL="342900" indent="-342900">
              <a:buSzPct val="100000"/>
              <a:buChar char="•"/>
            </a:pPr>
            <a:r>
              <a:rPr lang="en-US" sz="1200" dirty="0">
                <a:solidFill>
                  <a:srgbClr val="1A1A1A"/>
                </a:solidFill>
                <a:latin typeface="Calibri" pitchFamily="34" charset="0"/>
                <a:ea typeface="Calibri" pitchFamily="34" charset="-122"/>
                <a:cs typeface="Calibri" pitchFamily="34" charset="-120"/>
              </a:rPr>
              <a:t>The verdict is derived in code from the per-criterion results, not simply trusted from the model.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1007</Words>
  <Application>Microsoft Office PowerPoint</Application>
  <PresentationFormat>On-screen Show (16:9)</PresentationFormat>
  <Paragraphs>148</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SENSEEI - Diagrams</dc:title>
  <dc:subject>PptxGenJS Presentation</dc:subject>
  <dc:creator>SENSEEI Thesis Group</dc:creator>
  <cp:lastModifiedBy>dawson catignas</cp:lastModifiedBy>
  <cp:revision>2</cp:revision>
  <dcterms:created xsi:type="dcterms:W3CDTF">2026-07-08T18:44:00Z</dcterms:created>
  <dcterms:modified xsi:type="dcterms:W3CDTF">2026-07-08T18:46:22Z</dcterms:modified>
</cp:coreProperties>
</file>